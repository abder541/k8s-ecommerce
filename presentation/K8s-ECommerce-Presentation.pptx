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presenter mon projet : mettre en ligne une boutique e-commerce sur Kubernetes.
L'application a trois parties : l'interface du site que voit le client, le moteur qui gere la logique (les produits, les commandes), et la base de donnees qui garde les informations.
Tout est automatise : le systeme lance les parties, les surveille, et les repare tout seul si l'une tombe en panne.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but du projet : prendre une application complete et la faire tourner dans un environnement capable de la gerer automatiquement.
Une contrainte etait imposee, c'est le tableau a droite : l'interface du site doit etre seule d'un cote (Pod 1), et le moteur avec la base de donnees ensemble de l'autre (Pod 2). J'ai respecte cette organisation.
En bas, ce sont les criteres de notation : le plus important, c'est que l'application fonctionne vraiment.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comment tout est relie. Je suis le chemin d'une visite :
Le client arrive sur le site par une adresse (en haut a gauche). Le site ne calcule rien lui-meme : il transmet les demandes au moteur, qui est juste en dessous.
Le moteur va chercher ou enregistrer les informations dans la base de donnees, qui est juste a cote de lui (ils sont dans le meme groupe, le Pod 2).
Et point important : les donnees de la base sont ecrites sur un espace de stockage qui ne s'efface pas, meme si une partie redemarre. C'est la fleche vers le bas, le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technologies que j'ai choisies.
Pour l'interface du site : React. Pour le moteur : Node.js. Pour la base de donnees : MongoDB. Ce sont trois technologies qui se marient bien et que je connais.
Pour faire tourner Kubernetes sur mon ordinateur, j'ai utilise un outil leger appele kind, qui cree un vrai environnement Kubernetes facile a relancer a l'identique.
L'idee generale : une organisation simple, rapide a tester, et qui se reproduit en une commande.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partie de l'application est emballee dans un paquet autonome qui contient tout ce qu'il faut pour fonctionner. Ca garantit que ca marche pareil partout.
A gauche, la recette pour le moteur. A droite, celle du site : je l'ai faite en deux temps. D'abord je fabrique le site, puis je ne garde que le resultat final dans un paquet tres leger.
Resultat, en bas : le paquet du site ne pese que 21 megaoctets au lieu de plusieurs centaines. C'est plus rapide a demarrer.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je montre comment je cree l'environnement Kubernetes.
Une seule commande suffit pour le creer (en haut a gauche). A droite, on voit que la machine est bien active et prete.
Comme mes paquets sont fabriques sur mon ordinateur, je les injecte directement dans l'environnement, sans avoir besoin de les publier sur internet. Tout reste en local, c'est rapide.
Si on me demande : kind, c'est un vrai Kubernetes, juste installe de facon legere sur un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tableau montre mes trois groupes d'application et comment ils sont geres.
Chaque partie est surveillee en permanence : si elle plante, le systeme la relance tout seul, sans intervention. C'est la colonne 'Sondes'.
J'ai aussi mis des limites pour qu'aucune partie ne consomme trop de memoire.
En bas a droite, j'explique un choix : pour la base de donnees, je l'arrete completement avant de la relancer lors d'une mise a jour. C'est pour eviter que deux versions touchent au meme espace de stockage en meme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comment les parties se parlent et comment on accede a l'application.
Le tableau montre les adresses : le site a une porte d'entree ouverte vers l'exterieur (le port 30080), donc accessible depuis un navigateur. Le moteur, lui, n'est joignable que de l'interieur, pour la securite.
En bas, la chaine complete : du navigateur jusqu'a la base de donnees.
Detail important : le site sert d'intermediaire et transmet les demandes au moteur. Comme ca, le navigateur ne parle qu'a une seule adresse, ce qui evite les blocages de securite des navigateurs.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slide cle. Deux sujets : garder les donnees, et proteger les mots de passe.
A gauche : la base de donnees ecrit ses informations sur un espace de stockage reserve qui survit, meme si la base redemarre.
En bas, le test que j'ai fait pour le prouver : je cree une commande, je supprime volontairement la partie base de donnees, le systeme la recree tout seul, et la commande est TOUJOURS la. C'est la preuve que rien n'est perdu.
A droite : les mots de passe ne sont jamais ecrits en clair dans les fichiers, ils sont ranges a part de facon protegee.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 preuve que tout fonctionne, avec deux captures reelles.
A gauche : le site en ligne avec son catalogue de produits. Les produits viennent bien de la base de donnees, en passant par le moteur.
A droite : l'etat du systeme. Toutes les parties sont actives, l'espace de stockage est bien relie, et le moteur repond correctement.
En bas, les quatre verifications demandees dans le sujet : le site est accessible, le site parle au moteur, le moteur parle a la base, et les donnees resistent au redemarrage. Les quatre sont validees.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voulu aller au-dela du minimum demande, avec trois choses en plus.
Un : la securisation des mots de passe, ranges de facon protegee.
Deux : j'ai prepare une version capable de tourner sur plusieurs machines, pas seulement une.
Trois : j'ai ajoute un systeme de surveillance (Prometheus et Grafana) qui permet de suivre l'activite de l'application avec des graphiques. Les fichiers de configuration sont fournis et le moteur est prepare pour 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rencontre plusieurs obstacles, et pour chacun j'ai trouve une solution. Le tableau les resume.
L'exemple le plus parlant : au demarrage, le moteur essayait de se connecter a la base de donnees avant qu'elle soit prete, donc ca plantait. Je l'ai regle en faisant reessayer le moteur plusieurs fois jusqu'a ce que la base reponde.
L'idee a retenir : c'est normal d'avoir des problemes, l'important c'est de comprendre la cause et de la corriger. C'est ce qui m'a le plus appris.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A gauche, ce que j'ai livre : une application e-commerce complete, qui respecte l'architecture demandee, avec des donnees qui ne se perdent pas.
A droite, les ameliorations possibles si on continuait : ajouter une connexion securisee HTTPS, un systeme qui ajoute automatiquement des ressources quand il y a beaucoup de visiteurs, et une mise a jour automatisee.
Je termine par : merci de votre attention, je suis disponible pour repondre a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509760" y="548640"/>
            <a:ext cx="713232" cy="713232"/>
          </a:xfrm>
          <a:prstGeom prst="roundRect">
            <a:avLst>
              <a:gd name="adj" fmla="val 10256"/>
            </a:avLst>
          </a:prstGeom>
          <a:solidFill>
            <a:srgbClr val="12305C"/>
          </a:solidFill>
          <a:ln w="12700">
            <a:solidFill>
              <a:srgbClr val="00B4D8"/>
            </a:solidFill>
            <a:prstDash val="solid"/>
          </a:ln>
        </p:spPr>
      </p:sp>
      <p:sp>
        <p:nvSpPr>
          <p:cNvPr id="3" name="Shape 1"/>
          <p:cNvSpPr/>
          <p:nvPr/>
        </p:nvSpPr>
        <p:spPr>
          <a:xfrm>
            <a:off x="10378440" y="548640"/>
            <a:ext cx="713232" cy="713232"/>
          </a:xfrm>
          <a:prstGeom prst="roundRect">
            <a:avLst>
              <a:gd name="adj" fmla="val 10256"/>
            </a:avLst>
          </a:prstGeom>
          <a:solidFill>
            <a:srgbClr val="326CE5"/>
          </a:solidFill>
          <a:ln w="12700">
            <a:solidFill>
              <a:srgbClr val="00B4D8"/>
            </a:solidFill>
            <a:prstDash val="solid"/>
          </a:ln>
        </p:spPr>
      </p:sp>
      <p:sp>
        <p:nvSpPr>
          <p:cNvPr id="4" name="Shape 2"/>
          <p:cNvSpPr/>
          <p:nvPr/>
        </p:nvSpPr>
        <p:spPr>
          <a:xfrm>
            <a:off x="11247120" y="548640"/>
            <a:ext cx="713232" cy="713232"/>
          </a:xfrm>
          <a:prstGeom prst="roundRect">
            <a:avLst>
              <a:gd name="adj" fmla="val 10256"/>
            </a:avLst>
          </a:prstGeom>
          <a:solidFill>
            <a:srgbClr val="12305C"/>
          </a:solidFill>
          <a:ln w="12700">
            <a:solidFill>
              <a:srgbClr val="00B4D8"/>
            </a:solidFill>
            <a:prstDash val="solid"/>
          </a:ln>
        </p:spPr>
      </p:sp>
      <p:sp>
        <p:nvSpPr>
          <p:cNvPr id="5" name="Shape 3"/>
          <p:cNvSpPr/>
          <p:nvPr/>
        </p:nvSpPr>
        <p:spPr>
          <a:xfrm>
            <a:off x="9509760" y="1417320"/>
            <a:ext cx="713232" cy="713232"/>
          </a:xfrm>
          <a:prstGeom prst="roundRect">
            <a:avLst>
              <a:gd name="adj" fmla="val 10256"/>
            </a:avLst>
          </a:prstGeom>
          <a:solidFill>
            <a:srgbClr val="326CE5"/>
          </a:solidFill>
          <a:ln w="12700">
            <a:solidFill>
              <a:srgbClr val="00B4D8"/>
            </a:solidFill>
            <a:prstDash val="solid"/>
          </a:ln>
        </p:spPr>
      </p:sp>
      <p:sp>
        <p:nvSpPr>
          <p:cNvPr id="6" name="Shape 4"/>
          <p:cNvSpPr/>
          <p:nvPr/>
        </p:nvSpPr>
        <p:spPr>
          <a:xfrm>
            <a:off x="10378440" y="1417320"/>
            <a:ext cx="713232" cy="713232"/>
          </a:xfrm>
          <a:prstGeom prst="roundRect">
            <a:avLst>
              <a:gd name="adj" fmla="val 10256"/>
            </a:avLst>
          </a:prstGeom>
          <a:solidFill>
            <a:srgbClr val="12305C"/>
          </a:solidFill>
          <a:ln w="12700">
            <a:solidFill>
              <a:srgbClr val="00B4D8"/>
            </a:solidFill>
            <a:prstDash val="solid"/>
          </a:ln>
        </p:spPr>
      </p:sp>
      <p:sp>
        <p:nvSpPr>
          <p:cNvPr id="7" name="Shape 5"/>
          <p:cNvSpPr/>
          <p:nvPr/>
        </p:nvSpPr>
        <p:spPr>
          <a:xfrm>
            <a:off x="11247120" y="1417320"/>
            <a:ext cx="713232" cy="713232"/>
          </a:xfrm>
          <a:prstGeom prst="roundRect">
            <a:avLst>
              <a:gd name="adj" fmla="val 10256"/>
            </a:avLst>
          </a:prstGeom>
          <a:solidFill>
            <a:srgbClr val="326CE5"/>
          </a:solidFill>
          <a:ln w="12700">
            <a:solidFill>
              <a:srgbClr val="00B4D8"/>
            </a:solidFill>
            <a:prstDash val="solid"/>
          </a:ln>
        </p:spPr>
      </p:sp>
      <p:sp>
        <p:nvSpPr>
          <p:cNvPr id="8" name="Shape 6"/>
          <p:cNvSpPr/>
          <p:nvPr/>
        </p:nvSpPr>
        <p:spPr>
          <a:xfrm>
            <a:off x="548640" y="2240280"/>
            <a:ext cx="128016" cy="2011680"/>
          </a:xfrm>
          <a:prstGeom prst="rect">
            <a:avLst/>
          </a:prstGeom>
          <a:solidFill>
            <a:srgbClr val="326CE5"/>
          </a:solidFill>
          <a:ln/>
        </p:spPr>
      </p:sp>
      <p:sp>
        <p:nvSpPr>
          <p:cNvPr id="9" name="Text 7"/>
          <p:cNvSpPr/>
          <p:nvPr/>
        </p:nvSpPr>
        <p:spPr>
          <a:xfrm>
            <a:off x="868680" y="2286000"/>
            <a:ext cx="9144000" cy="365760"/>
          </a:xfrm>
          <a:prstGeom prst="rect">
            <a:avLst/>
          </a:prstGeom>
          <a:noFill/>
          <a:ln/>
        </p:spPr>
        <p:txBody>
          <a:bodyPr wrap="square" rtlCol="0" anchor="ctr"/>
          <a:lstStyle/>
          <a:p>
            <a:pPr indent="0" marL="0">
              <a:buNone/>
            </a:pPr>
            <a:r>
              <a:rPr lang="en-US" sz="1400" b="1" spc="300" kern="0" dirty="0">
                <a:solidFill>
                  <a:srgbClr val="00B4D8"/>
                </a:solidFill>
                <a:latin typeface="Trebuchet MS" pitchFamily="34" charset="0"/>
                <a:ea typeface="Trebuchet MS" pitchFamily="34" charset="-122"/>
                <a:cs typeface="Trebuchet MS" pitchFamily="34" charset="-120"/>
              </a:rPr>
              <a:t>PROJET DEVOPS  |  KUBERNETES</a:t>
            </a:r>
            <a:endParaRPr lang="en-US" sz="1400" dirty="0"/>
          </a:p>
        </p:txBody>
      </p:sp>
      <p:sp>
        <p:nvSpPr>
          <p:cNvPr id="10" name="Text 8"/>
          <p:cNvSpPr/>
          <p:nvPr/>
        </p:nvSpPr>
        <p:spPr>
          <a:xfrm>
            <a:off x="841248" y="2697480"/>
            <a:ext cx="10515600" cy="1554480"/>
          </a:xfrm>
          <a:prstGeom prst="rect">
            <a:avLst/>
          </a:prstGeom>
          <a:noFill/>
          <a:ln/>
        </p:spPr>
        <p:txBody>
          <a:bodyPr wrap="square" rtlCol="0" anchor="ctr"/>
          <a:lstStyle/>
          <a:p>
            <a:pPr indent="0" marL="0">
              <a:lnSpc>
                <a:spcPct val="102000"/>
              </a:lnSpc>
              <a:buNone/>
            </a:pPr>
            <a:r>
              <a:rPr lang="en-US" sz="4000" b="1" dirty="0">
                <a:solidFill>
                  <a:srgbClr val="FFFFFF"/>
                </a:solidFill>
                <a:latin typeface="Trebuchet MS" pitchFamily="34" charset="0"/>
                <a:ea typeface="Trebuchet MS" pitchFamily="34" charset="-122"/>
                <a:cs typeface="Trebuchet MS" pitchFamily="34" charset="-120"/>
              </a:rPr>
              <a:t>Deploiement d'une application</a:t>
            </a:r>
            <a:endParaRPr lang="en-US" sz="4000" dirty="0"/>
          </a:p>
          <a:p>
            <a:pPr indent="0" marL="0">
              <a:lnSpc>
                <a:spcPct val="102000"/>
              </a:lnSpc>
              <a:buNone/>
            </a:pPr>
            <a:r>
              <a:rPr lang="en-US" sz="4000" b="1" dirty="0">
                <a:solidFill>
                  <a:srgbClr val="FFFFFF"/>
                </a:solidFill>
                <a:latin typeface="Trebuchet MS" pitchFamily="34" charset="0"/>
                <a:ea typeface="Trebuchet MS" pitchFamily="34" charset="-122"/>
                <a:cs typeface="Trebuchet MS" pitchFamily="34" charset="-120"/>
              </a:rPr>
              <a:t>E-Commerce sur Kubernetes</a:t>
            </a:r>
            <a:endParaRPr lang="en-US" sz="4000" dirty="0"/>
          </a:p>
        </p:txBody>
      </p:sp>
      <p:sp>
        <p:nvSpPr>
          <p:cNvPr id="11" name="Text 9"/>
          <p:cNvSpPr/>
          <p:nvPr/>
        </p:nvSpPr>
        <p:spPr>
          <a:xfrm>
            <a:off x="868680" y="4343400"/>
            <a:ext cx="10515600" cy="36576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Conteneurisation Docker  |  Orchestration K8s  |  Persistance  |  Observabilite</a:t>
            </a:r>
            <a:endParaRPr lang="en-US" sz="1600" dirty="0"/>
          </a:p>
        </p:txBody>
      </p:sp>
      <p:sp>
        <p:nvSpPr>
          <p:cNvPr id="12" name="Shape 10"/>
          <p:cNvSpPr/>
          <p:nvPr/>
        </p:nvSpPr>
        <p:spPr>
          <a:xfrm>
            <a:off x="0" y="5806440"/>
            <a:ext cx="12188952" cy="1051560"/>
          </a:xfrm>
          <a:prstGeom prst="rect">
            <a:avLst/>
          </a:prstGeom>
          <a:solidFill>
            <a:srgbClr val="12305C"/>
          </a:solidFill>
          <a:ln/>
        </p:spPr>
      </p:sp>
      <p:sp>
        <p:nvSpPr>
          <p:cNvPr id="13" name="Text 11"/>
          <p:cNvSpPr/>
          <p:nvPr/>
        </p:nvSpPr>
        <p:spPr>
          <a:xfrm>
            <a:off x="868680" y="5989320"/>
            <a:ext cx="7772400" cy="365760"/>
          </a:xfrm>
          <a:prstGeom prst="rect">
            <a:avLst/>
          </a:prstGeom>
          <a:noFill/>
          <a:ln/>
        </p:spPr>
        <p:txBody>
          <a:bodyPr wrap="square" rtlCol="0" anchor="ctr"/>
          <a:lstStyle/>
          <a:p>
            <a:pPr indent="0" marL="0">
              <a:buNone/>
            </a:pPr>
            <a:r>
              <a:rPr lang="en-US" sz="1400" b="1" dirty="0">
                <a:solidFill>
                  <a:srgbClr val="00B4D8"/>
                </a:solidFill>
                <a:latin typeface="Calibri" pitchFamily="34" charset="0"/>
                <a:ea typeface="Calibri" pitchFamily="34" charset="-122"/>
                <a:cs typeface="Calibri" pitchFamily="34" charset="-120"/>
              </a:rPr>
              <a:t>Equipe : </a:t>
            </a:r>
            <a:pPr indent="0" marL="0">
              <a:buNone/>
            </a:pPr>
            <a:r>
              <a:rPr lang="en-US" sz="1400" dirty="0">
                <a:solidFill>
                  <a:srgbClr val="FFFFFF"/>
                </a:solidFill>
                <a:latin typeface="Calibri" pitchFamily="34" charset="0"/>
                <a:ea typeface="Calibri" pitchFamily="34" charset="-122"/>
                <a:cs typeface="Calibri" pitchFamily="34" charset="-120"/>
              </a:rPr>
              <a:t>Abderahmane</a:t>
            </a:r>
            <a:endParaRPr lang="en-US" sz="1400" dirty="0"/>
          </a:p>
        </p:txBody>
      </p:sp>
      <p:sp>
        <p:nvSpPr>
          <p:cNvPr id="14" name="Text 12"/>
          <p:cNvSpPr/>
          <p:nvPr/>
        </p:nvSpPr>
        <p:spPr>
          <a:xfrm>
            <a:off x="8412480" y="5989320"/>
            <a:ext cx="2926080" cy="365760"/>
          </a:xfrm>
          <a:prstGeom prst="rect">
            <a:avLst/>
          </a:prstGeom>
          <a:noFill/>
          <a:ln/>
        </p:spPr>
        <p:txBody>
          <a:bodyPr wrap="square" rtlCol="0" anchor="ctr"/>
          <a:lstStyle/>
          <a:p>
            <a:pPr algn="r" indent="0" marL="0">
              <a:buNone/>
            </a:pPr>
            <a:r>
              <a:rPr lang="en-US" sz="1300" dirty="0">
                <a:solidFill>
                  <a:srgbClr val="CADCFC"/>
                </a:solidFill>
                <a:latin typeface="Calibri" pitchFamily="34" charset="0"/>
                <a:ea typeface="Calibri" pitchFamily="34" charset="-122"/>
                <a:cs typeface="Calibri" pitchFamily="34" charset="-120"/>
              </a:rPr>
              <a:t>Soutenance - Juin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CONTEXTE</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Objectif du projet</a:t>
            </a:r>
            <a:endParaRPr lang="en-US" sz="2600" dirty="0"/>
          </a:p>
        </p:txBody>
      </p:sp>
      <p:sp>
        <p:nvSpPr>
          <p:cNvPr id="7" name="Shape 4"/>
          <p:cNvSpPr/>
          <p:nvPr/>
        </p:nvSpPr>
        <p:spPr>
          <a:xfrm>
            <a:off x="548640" y="1371600"/>
            <a:ext cx="5486400" cy="219456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Text 5"/>
          <p:cNvSpPr/>
          <p:nvPr/>
        </p:nvSpPr>
        <p:spPr>
          <a:xfrm>
            <a:off x="777240" y="1508760"/>
            <a:ext cx="5029200" cy="365760"/>
          </a:xfrm>
          <a:prstGeom prst="rect">
            <a:avLst/>
          </a:prstGeom>
          <a:noFill/>
          <a:ln/>
        </p:spPr>
        <p:txBody>
          <a:bodyPr wrap="square" rtlCol="0" anchor="ctr"/>
          <a:lstStyle/>
          <a:p>
            <a:pPr indent="0" marL="0">
              <a:buNone/>
            </a:pPr>
            <a:r>
              <a:rPr lang="en-US" sz="1600" b="1" dirty="0">
                <a:solidFill>
                  <a:srgbClr val="326CE5"/>
                </a:solidFill>
                <a:latin typeface="Trebuchet MS" pitchFamily="34" charset="0"/>
                <a:ea typeface="Trebuchet MS" pitchFamily="34" charset="-122"/>
                <a:cs typeface="Trebuchet MS" pitchFamily="34" charset="-120"/>
              </a:rPr>
              <a:t>Mission</a:t>
            </a:r>
            <a:endParaRPr lang="en-US" sz="1600" dirty="0"/>
          </a:p>
        </p:txBody>
      </p:sp>
      <p:sp>
        <p:nvSpPr>
          <p:cNvPr id="9" name="Text 6"/>
          <p:cNvSpPr/>
          <p:nvPr/>
        </p:nvSpPr>
        <p:spPr>
          <a:xfrm>
            <a:off x="777240" y="1920240"/>
            <a:ext cx="5029200" cy="1554480"/>
          </a:xfrm>
          <a:prstGeom prst="rect">
            <a:avLst/>
          </a:prstGeom>
          <a:noFill/>
          <a:ln/>
        </p:spPr>
        <p:txBody>
          <a:bodyPr wrap="square" rtlCol="0" anchor="ctr"/>
          <a:lstStyle/>
          <a:p>
            <a:pPr marL="342900" indent="-342900">
              <a:spcAft>
                <a:spcPts val="800"/>
              </a:spcAft>
              <a:buSzPct val="100000"/>
              <a:buChar char="•"/>
            </a:pPr>
            <a:r>
              <a:rPr lang="en-US" sz="1350" dirty="0">
                <a:solidFill>
                  <a:srgbClr val="1A2233"/>
                </a:solidFill>
                <a:latin typeface="Calibri" pitchFamily="34" charset="0"/>
                <a:ea typeface="Calibri" pitchFamily="34" charset="-122"/>
                <a:cs typeface="Calibri" pitchFamily="34" charset="-120"/>
              </a:rPr>
              <a:t>Concevoir, conteneuriser et deployer une application e-commerce complete dans un cluster Kubernetes.</a:t>
            </a:r>
            <a:endParaRPr lang="en-US" sz="1350" dirty="0"/>
          </a:p>
          <a:p>
            <a:pPr marL="342900" indent="-342900">
              <a:spcAft>
                <a:spcPts val="800"/>
              </a:spcAft>
              <a:buSzPct val="100000"/>
              <a:buChar char="•"/>
            </a:pPr>
            <a:r>
              <a:rPr lang="en-US" sz="1350" dirty="0">
                <a:solidFill>
                  <a:srgbClr val="1A2233"/>
                </a:solidFill>
                <a:latin typeface="Calibri" pitchFamily="34" charset="0"/>
                <a:ea typeface="Calibri" pitchFamily="34" charset="-122"/>
                <a:cs typeface="Calibri" pitchFamily="34" charset="-120"/>
              </a:rPr>
              <a:t>3 composants : Frontend, Backend (API), Base de donnees.</a:t>
            </a:r>
            <a:endParaRPr lang="en-US" sz="1350" dirty="0"/>
          </a:p>
          <a:p>
            <a:pPr marL="342900" indent="-342900">
              <a:spcAft>
                <a:spcPts val="800"/>
              </a:spcAft>
              <a:buSzPct val="100000"/>
              <a:buChar char="•"/>
            </a:pPr>
            <a:r>
              <a:rPr lang="en-US" sz="1350" dirty="0">
                <a:solidFill>
                  <a:srgbClr val="1A2233"/>
                </a:solidFill>
                <a:latin typeface="Calibri" pitchFamily="34" charset="0"/>
                <a:ea typeface="Calibri" pitchFamily="34" charset="-122"/>
                <a:cs typeface="Calibri" pitchFamily="34" charset="-120"/>
              </a:rPr>
              <a:t>Communication, persistance et bonnes pratiques K8s.</a:t>
            </a:r>
            <a:endParaRPr lang="en-US" sz="1350" dirty="0"/>
          </a:p>
        </p:txBody>
      </p:sp>
      <p:sp>
        <p:nvSpPr>
          <p:cNvPr id="10" name="Shape 7"/>
          <p:cNvSpPr/>
          <p:nvPr/>
        </p:nvSpPr>
        <p:spPr>
          <a:xfrm>
            <a:off x="6309360" y="1371600"/>
            <a:ext cx="5303520" cy="219456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1" name="Text 8"/>
          <p:cNvSpPr/>
          <p:nvPr/>
        </p:nvSpPr>
        <p:spPr>
          <a:xfrm>
            <a:off x="6537960" y="1508760"/>
            <a:ext cx="4846320" cy="365760"/>
          </a:xfrm>
          <a:prstGeom prst="rect">
            <a:avLst/>
          </a:prstGeom>
          <a:noFill/>
          <a:ln/>
        </p:spPr>
        <p:txBody>
          <a:bodyPr wrap="square" rtlCol="0" anchor="ctr"/>
          <a:lstStyle/>
          <a:p>
            <a:pPr indent="0" marL="0">
              <a:buNone/>
            </a:pPr>
            <a:r>
              <a:rPr lang="en-US" sz="1600" b="1" dirty="0">
                <a:solidFill>
                  <a:srgbClr val="326CE5"/>
                </a:solidFill>
                <a:latin typeface="Trebuchet MS" pitchFamily="34" charset="0"/>
                <a:ea typeface="Trebuchet MS" pitchFamily="34" charset="-122"/>
                <a:cs typeface="Trebuchet MS" pitchFamily="34" charset="-120"/>
              </a:rPr>
              <a:t>Architecture imposee</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537960" y="1965960"/>
          <a:ext cx="4846320" cy="914400"/>
        </p:xfrm>
        <a:graphic>
          <a:graphicData uri="http://schemas.openxmlformats.org/drawingml/2006/table">
            <a:tbl>
              <a:tblPr/>
              <a:tblGrid>
                <a:gridCol w="1280160"/>
                <a:gridCol w="356616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Pod</a:t>
                      </a:r>
                      <a:endParaRPr lang="en-US" sz="13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Contenu</a:t>
                      </a:r>
                      <a:endParaRPr lang="en-US" sz="13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r>
              <a:tr h="329184">
                <a:tc>
                  <a:txBody>
                    <a:bodyPr/>
                    <a:lstStyle/>
                    <a:p>
                      <a:pPr indent="0" marL="0">
                        <a:buNone/>
                      </a:pPr>
                      <a:r>
                        <a:rPr lang="en-US" sz="1250" b="1" dirty="0">
                          <a:solidFill>
                            <a:srgbClr val="326CE5"/>
                          </a:solidFill>
                          <a:latin typeface="Calibri" pitchFamily="34" charset="0"/>
                          <a:ea typeface="Calibri" pitchFamily="34" charset="-122"/>
                          <a:cs typeface="Calibri" pitchFamily="34" charset="-120"/>
                        </a:rPr>
                        <a:t>Pod 1</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Frontend uniquement</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r h="329184">
                <a:tc>
                  <a:txBody>
                    <a:bodyPr/>
                    <a:lstStyle/>
                    <a:p>
                      <a:pPr indent="0" marL="0">
                        <a:buNone/>
                      </a:pPr>
                      <a:r>
                        <a:rPr lang="en-US" sz="1250" b="1" dirty="0">
                          <a:solidFill>
                            <a:srgbClr val="326CE5"/>
                          </a:solidFill>
                          <a:latin typeface="Calibri" pitchFamily="34" charset="0"/>
                          <a:ea typeface="Calibri" pitchFamily="34" charset="-122"/>
                          <a:cs typeface="Calibri" pitchFamily="34" charset="-120"/>
                        </a:rPr>
                        <a:t>Pod 2</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Backend + Base de donnees</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r h="329184">
                <a:tc>
                  <a:txBody>
                    <a:bodyPr/>
                    <a:lstStyle/>
                    <a:p>
                      <a:pPr indent="0" marL="0">
                        <a:buNone/>
                      </a:pPr>
                      <a:r>
                        <a:rPr lang="en-US" sz="1250" b="1" dirty="0">
                          <a:solidFill>
                            <a:srgbClr val="00B4D8"/>
                          </a:solidFill>
                          <a:latin typeface="Calibri" pitchFamily="34" charset="0"/>
                          <a:ea typeface="Calibri" pitchFamily="34" charset="-122"/>
                          <a:cs typeface="Calibri" pitchFamily="34" charset="-120"/>
                        </a:rPr>
                        <a:t>Pod 3</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Observabilite (bonus)</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bl>
          </a:graphicData>
        </a:graphic>
      </p:graphicFrame>
      <p:sp>
        <p:nvSpPr>
          <p:cNvPr id="13" name="Shape 9"/>
          <p:cNvSpPr/>
          <p:nvPr/>
        </p:nvSpPr>
        <p:spPr>
          <a:xfrm>
            <a:off x="548640" y="3794760"/>
            <a:ext cx="11064240" cy="233172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4" name="Text 10"/>
          <p:cNvSpPr/>
          <p:nvPr/>
        </p:nvSpPr>
        <p:spPr>
          <a:xfrm>
            <a:off x="777240" y="3931920"/>
            <a:ext cx="10607040" cy="365760"/>
          </a:xfrm>
          <a:prstGeom prst="rect">
            <a:avLst/>
          </a:prstGeom>
          <a:noFill/>
          <a:ln/>
        </p:spPr>
        <p:txBody>
          <a:bodyPr wrap="square" rtlCol="0" anchor="ctr"/>
          <a:lstStyle/>
          <a:p>
            <a:pPr indent="0" marL="0">
              <a:buNone/>
            </a:pPr>
            <a:r>
              <a:rPr lang="en-US" sz="1600" b="1" dirty="0">
                <a:solidFill>
                  <a:srgbClr val="326CE5"/>
                </a:solidFill>
                <a:latin typeface="Trebuchet MS" pitchFamily="34" charset="0"/>
                <a:ea typeface="Trebuchet MS" pitchFamily="34" charset="-122"/>
                <a:cs typeface="Trebuchet MS" pitchFamily="34" charset="-120"/>
              </a:rPr>
              <a:t>Livrables &amp; criteres d'evaluation</a:t>
            </a:r>
            <a:endParaRPr lang="en-US" sz="1600" dirty="0"/>
          </a:p>
        </p:txBody>
      </p:sp>
      <p:sp>
        <p:nvSpPr>
          <p:cNvPr id="15" name="Shape 11"/>
          <p:cNvSpPr/>
          <p:nvPr/>
        </p:nvSpPr>
        <p:spPr>
          <a:xfrm>
            <a:off x="777240" y="4389120"/>
            <a:ext cx="1645920" cy="1554480"/>
          </a:xfrm>
          <a:prstGeom prst="rect">
            <a:avLst/>
          </a:prstGeom>
          <a:solidFill>
            <a:srgbClr val="F4F6FA"/>
          </a:solidFill>
          <a:ln w="12700">
            <a:solidFill>
              <a:srgbClr val="DDE3EC"/>
            </a:solidFill>
            <a:prstDash val="solid"/>
          </a:ln>
        </p:spPr>
      </p:sp>
      <p:sp>
        <p:nvSpPr>
          <p:cNvPr id="16" name="Text 12"/>
          <p:cNvSpPr/>
          <p:nvPr/>
        </p:nvSpPr>
        <p:spPr>
          <a:xfrm>
            <a:off x="777240" y="4526280"/>
            <a:ext cx="1645920" cy="548640"/>
          </a:xfrm>
          <a:prstGeom prst="rect">
            <a:avLst/>
          </a:prstGeom>
          <a:noFill/>
          <a:ln/>
        </p:spPr>
        <p:txBody>
          <a:bodyPr wrap="square" rtlCol="0" anchor="ctr"/>
          <a:lstStyle/>
          <a:p>
            <a:pPr algn="ctr" indent="0" marL="0">
              <a:buNone/>
            </a:pPr>
            <a:r>
              <a:rPr lang="en-US" sz="2600" b="1" dirty="0">
                <a:solidFill>
                  <a:srgbClr val="326CE5"/>
                </a:solidFill>
                <a:latin typeface="Trebuchet MS" pitchFamily="34" charset="0"/>
                <a:ea typeface="Trebuchet MS" pitchFamily="34" charset="-122"/>
                <a:cs typeface="Trebuchet MS" pitchFamily="34" charset="-120"/>
              </a:rPr>
              <a:t>30%</a:t>
            </a:r>
            <a:endParaRPr lang="en-US" sz="2600" dirty="0"/>
          </a:p>
        </p:txBody>
      </p:sp>
      <p:sp>
        <p:nvSpPr>
          <p:cNvPr id="17" name="Text 13"/>
          <p:cNvSpPr/>
          <p:nvPr/>
        </p:nvSpPr>
        <p:spPr>
          <a:xfrm>
            <a:off x="868680" y="5120640"/>
            <a:ext cx="1463040" cy="731520"/>
          </a:xfrm>
          <a:prstGeom prst="rect">
            <a:avLst/>
          </a:prstGeom>
          <a:noFill/>
          <a:ln/>
        </p:spPr>
        <p:txBody>
          <a:bodyPr wrap="square"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Fonctionnement</a:t>
            </a:r>
            <a:endParaRPr lang="en-US" sz="1200" dirty="0"/>
          </a:p>
        </p:txBody>
      </p:sp>
      <p:sp>
        <p:nvSpPr>
          <p:cNvPr id="18" name="Shape 14"/>
          <p:cNvSpPr/>
          <p:nvPr/>
        </p:nvSpPr>
        <p:spPr>
          <a:xfrm>
            <a:off x="2578608" y="4389120"/>
            <a:ext cx="1645920" cy="1554480"/>
          </a:xfrm>
          <a:prstGeom prst="rect">
            <a:avLst/>
          </a:prstGeom>
          <a:solidFill>
            <a:srgbClr val="F4F6FA"/>
          </a:solidFill>
          <a:ln w="12700">
            <a:solidFill>
              <a:srgbClr val="DDE3EC"/>
            </a:solidFill>
            <a:prstDash val="solid"/>
          </a:ln>
        </p:spPr>
      </p:sp>
      <p:sp>
        <p:nvSpPr>
          <p:cNvPr id="19" name="Text 15"/>
          <p:cNvSpPr/>
          <p:nvPr/>
        </p:nvSpPr>
        <p:spPr>
          <a:xfrm>
            <a:off x="2578608" y="4526280"/>
            <a:ext cx="1645920" cy="548640"/>
          </a:xfrm>
          <a:prstGeom prst="rect">
            <a:avLst/>
          </a:prstGeom>
          <a:noFill/>
          <a:ln/>
        </p:spPr>
        <p:txBody>
          <a:bodyPr wrap="square" rtlCol="0" anchor="ctr"/>
          <a:lstStyle/>
          <a:p>
            <a:pPr algn="ctr" indent="0" marL="0">
              <a:buNone/>
            </a:pPr>
            <a:r>
              <a:rPr lang="en-US" sz="2600" b="1" dirty="0">
                <a:solidFill>
                  <a:srgbClr val="326CE5"/>
                </a:solidFill>
                <a:latin typeface="Trebuchet MS" pitchFamily="34" charset="0"/>
                <a:ea typeface="Trebuchet MS" pitchFamily="34" charset="-122"/>
                <a:cs typeface="Trebuchet MS" pitchFamily="34" charset="-120"/>
              </a:rPr>
              <a:t>20%</a:t>
            </a:r>
            <a:endParaRPr lang="en-US" sz="2600" dirty="0"/>
          </a:p>
        </p:txBody>
      </p:sp>
      <p:sp>
        <p:nvSpPr>
          <p:cNvPr id="20" name="Text 16"/>
          <p:cNvSpPr/>
          <p:nvPr/>
        </p:nvSpPr>
        <p:spPr>
          <a:xfrm>
            <a:off x="2670048" y="5120640"/>
            <a:ext cx="1463040" cy="731520"/>
          </a:xfrm>
          <a:prstGeom prst="rect">
            <a:avLst/>
          </a:prstGeom>
          <a:noFill/>
          <a:ln/>
        </p:spPr>
        <p:txBody>
          <a:bodyPr wrap="square"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Qualite YAML K8s</a:t>
            </a:r>
            <a:endParaRPr lang="en-US" sz="1200" dirty="0"/>
          </a:p>
        </p:txBody>
      </p:sp>
      <p:sp>
        <p:nvSpPr>
          <p:cNvPr id="21" name="Shape 17"/>
          <p:cNvSpPr/>
          <p:nvPr/>
        </p:nvSpPr>
        <p:spPr>
          <a:xfrm>
            <a:off x="4379976" y="4389120"/>
            <a:ext cx="1645920" cy="1554480"/>
          </a:xfrm>
          <a:prstGeom prst="rect">
            <a:avLst/>
          </a:prstGeom>
          <a:solidFill>
            <a:srgbClr val="F4F6FA"/>
          </a:solidFill>
          <a:ln w="12700">
            <a:solidFill>
              <a:srgbClr val="DDE3EC"/>
            </a:solidFill>
            <a:prstDash val="solid"/>
          </a:ln>
        </p:spPr>
      </p:sp>
      <p:sp>
        <p:nvSpPr>
          <p:cNvPr id="22" name="Text 18"/>
          <p:cNvSpPr/>
          <p:nvPr/>
        </p:nvSpPr>
        <p:spPr>
          <a:xfrm>
            <a:off x="4379976" y="4526280"/>
            <a:ext cx="1645920" cy="548640"/>
          </a:xfrm>
          <a:prstGeom prst="rect">
            <a:avLst/>
          </a:prstGeom>
          <a:noFill/>
          <a:ln/>
        </p:spPr>
        <p:txBody>
          <a:bodyPr wrap="square" rtlCol="0" anchor="ctr"/>
          <a:lstStyle/>
          <a:p>
            <a:pPr algn="ctr" indent="0" marL="0">
              <a:buNone/>
            </a:pPr>
            <a:r>
              <a:rPr lang="en-US" sz="2600" b="1" dirty="0">
                <a:solidFill>
                  <a:srgbClr val="326CE5"/>
                </a:solidFill>
                <a:latin typeface="Trebuchet MS" pitchFamily="34" charset="0"/>
                <a:ea typeface="Trebuchet MS" pitchFamily="34" charset="-122"/>
                <a:cs typeface="Trebuchet MS" pitchFamily="34" charset="-120"/>
              </a:rPr>
              <a:t>15%</a:t>
            </a:r>
            <a:endParaRPr lang="en-US" sz="2600" dirty="0"/>
          </a:p>
        </p:txBody>
      </p:sp>
      <p:sp>
        <p:nvSpPr>
          <p:cNvPr id="23" name="Text 19"/>
          <p:cNvSpPr/>
          <p:nvPr/>
        </p:nvSpPr>
        <p:spPr>
          <a:xfrm>
            <a:off x="4471416" y="5120640"/>
            <a:ext cx="1463040" cy="731520"/>
          </a:xfrm>
          <a:prstGeom prst="rect">
            <a:avLst/>
          </a:prstGeom>
          <a:noFill/>
          <a:ln/>
        </p:spPr>
        <p:txBody>
          <a:bodyPr wrap="square"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Architecture</a:t>
            </a:r>
            <a:endParaRPr lang="en-US" sz="1200" dirty="0"/>
          </a:p>
        </p:txBody>
      </p:sp>
      <p:sp>
        <p:nvSpPr>
          <p:cNvPr id="24" name="Shape 20"/>
          <p:cNvSpPr/>
          <p:nvPr/>
        </p:nvSpPr>
        <p:spPr>
          <a:xfrm>
            <a:off x="6181344" y="4389120"/>
            <a:ext cx="1645920" cy="1554480"/>
          </a:xfrm>
          <a:prstGeom prst="rect">
            <a:avLst/>
          </a:prstGeom>
          <a:solidFill>
            <a:srgbClr val="F4F6FA"/>
          </a:solidFill>
          <a:ln w="12700">
            <a:solidFill>
              <a:srgbClr val="DDE3EC"/>
            </a:solidFill>
            <a:prstDash val="solid"/>
          </a:ln>
        </p:spPr>
      </p:sp>
      <p:sp>
        <p:nvSpPr>
          <p:cNvPr id="25" name="Text 21"/>
          <p:cNvSpPr/>
          <p:nvPr/>
        </p:nvSpPr>
        <p:spPr>
          <a:xfrm>
            <a:off x="6181344" y="4526280"/>
            <a:ext cx="1645920" cy="548640"/>
          </a:xfrm>
          <a:prstGeom prst="rect">
            <a:avLst/>
          </a:prstGeom>
          <a:noFill/>
          <a:ln/>
        </p:spPr>
        <p:txBody>
          <a:bodyPr wrap="square" rtlCol="0" anchor="ctr"/>
          <a:lstStyle/>
          <a:p>
            <a:pPr algn="ctr" indent="0" marL="0">
              <a:buNone/>
            </a:pPr>
            <a:r>
              <a:rPr lang="en-US" sz="2600" b="1" dirty="0">
                <a:solidFill>
                  <a:srgbClr val="326CE5"/>
                </a:solidFill>
                <a:latin typeface="Trebuchet MS" pitchFamily="34" charset="0"/>
                <a:ea typeface="Trebuchet MS" pitchFamily="34" charset="-122"/>
                <a:cs typeface="Trebuchet MS" pitchFamily="34" charset="-120"/>
              </a:rPr>
              <a:t>15%</a:t>
            </a:r>
            <a:endParaRPr lang="en-US" sz="2600" dirty="0"/>
          </a:p>
        </p:txBody>
      </p:sp>
      <p:sp>
        <p:nvSpPr>
          <p:cNvPr id="26" name="Text 22"/>
          <p:cNvSpPr/>
          <p:nvPr/>
        </p:nvSpPr>
        <p:spPr>
          <a:xfrm>
            <a:off x="6272784" y="5120640"/>
            <a:ext cx="1463040" cy="731520"/>
          </a:xfrm>
          <a:prstGeom prst="rect">
            <a:avLst/>
          </a:prstGeom>
          <a:noFill/>
          <a:ln/>
        </p:spPr>
        <p:txBody>
          <a:bodyPr wrap="square"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Volumes &amp; Services</a:t>
            </a:r>
            <a:endParaRPr lang="en-US" sz="1200" dirty="0"/>
          </a:p>
        </p:txBody>
      </p:sp>
      <p:sp>
        <p:nvSpPr>
          <p:cNvPr id="27" name="Shape 23"/>
          <p:cNvSpPr/>
          <p:nvPr/>
        </p:nvSpPr>
        <p:spPr>
          <a:xfrm>
            <a:off x="7982712" y="4389120"/>
            <a:ext cx="1645920" cy="1554480"/>
          </a:xfrm>
          <a:prstGeom prst="rect">
            <a:avLst/>
          </a:prstGeom>
          <a:solidFill>
            <a:srgbClr val="F4F6FA"/>
          </a:solidFill>
          <a:ln w="12700">
            <a:solidFill>
              <a:srgbClr val="DDE3EC"/>
            </a:solidFill>
            <a:prstDash val="solid"/>
          </a:ln>
        </p:spPr>
      </p:sp>
      <p:sp>
        <p:nvSpPr>
          <p:cNvPr id="28" name="Text 24"/>
          <p:cNvSpPr/>
          <p:nvPr/>
        </p:nvSpPr>
        <p:spPr>
          <a:xfrm>
            <a:off x="7982712" y="4526280"/>
            <a:ext cx="1645920" cy="548640"/>
          </a:xfrm>
          <a:prstGeom prst="rect">
            <a:avLst/>
          </a:prstGeom>
          <a:noFill/>
          <a:ln/>
        </p:spPr>
        <p:txBody>
          <a:bodyPr wrap="square" rtlCol="0" anchor="ctr"/>
          <a:lstStyle/>
          <a:p>
            <a:pPr algn="ctr" indent="0" marL="0">
              <a:buNone/>
            </a:pPr>
            <a:r>
              <a:rPr lang="en-US" sz="2600" b="1" dirty="0">
                <a:solidFill>
                  <a:srgbClr val="326CE5"/>
                </a:solidFill>
                <a:latin typeface="Trebuchet MS" pitchFamily="34" charset="0"/>
                <a:ea typeface="Trebuchet MS" pitchFamily="34" charset="-122"/>
                <a:cs typeface="Trebuchet MS" pitchFamily="34" charset="-120"/>
              </a:rPr>
              <a:t>10%</a:t>
            </a:r>
            <a:endParaRPr lang="en-US" sz="2600" dirty="0"/>
          </a:p>
        </p:txBody>
      </p:sp>
      <p:sp>
        <p:nvSpPr>
          <p:cNvPr id="29" name="Text 25"/>
          <p:cNvSpPr/>
          <p:nvPr/>
        </p:nvSpPr>
        <p:spPr>
          <a:xfrm>
            <a:off x="8074152" y="5120640"/>
            <a:ext cx="1463040" cy="731520"/>
          </a:xfrm>
          <a:prstGeom prst="rect">
            <a:avLst/>
          </a:prstGeom>
          <a:noFill/>
          <a:ln/>
        </p:spPr>
        <p:txBody>
          <a:bodyPr wrap="square"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README</a:t>
            </a:r>
            <a:endParaRPr lang="en-US" sz="1200" dirty="0"/>
          </a:p>
        </p:txBody>
      </p:sp>
      <p:sp>
        <p:nvSpPr>
          <p:cNvPr id="30" name="Shape 26"/>
          <p:cNvSpPr/>
          <p:nvPr/>
        </p:nvSpPr>
        <p:spPr>
          <a:xfrm>
            <a:off x="9784080" y="4389120"/>
            <a:ext cx="1645920" cy="1554480"/>
          </a:xfrm>
          <a:prstGeom prst="rect">
            <a:avLst/>
          </a:prstGeom>
          <a:solidFill>
            <a:srgbClr val="F4F6FA"/>
          </a:solidFill>
          <a:ln w="12700">
            <a:solidFill>
              <a:srgbClr val="DDE3EC"/>
            </a:solidFill>
            <a:prstDash val="solid"/>
          </a:ln>
        </p:spPr>
      </p:sp>
      <p:sp>
        <p:nvSpPr>
          <p:cNvPr id="31" name="Text 27"/>
          <p:cNvSpPr/>
          <p:nvPr/>
        </p:nvSpPr>
        <p:spPr>
          <a:xfrm>
            <a:off x="9784080" y="4526280"/>
            <a:ext cx="1645920" cy="548640"/>
          </a:xfrm>
          <a:prstGeom prst="rect">
            <a:avLst/>
          </a:prstGeom>
          <a:noFill/>
          <a:ln/>
        </p:spPr>
        <p:txBody>
          <a:bodyPr wrap="square" rtlCol="0" anchor="ctr"/>
          <a:lstStyle/>
          <a:p>
            <a:pPr algn="ctr" indent="0" marL="0">
              <a:buNone/>
            </a:pPr>
            <a:r>
              <a:rPr lang="en-US" sz="2600" b="1" dirty="0">
                <a:solidFill>
                  <a:srgbClr val="326CE5"/>
                </a:solidFill>
                <a:latin typeface="Trebuchet MS" pitchFamily="34" charset="0"/>
                <a:ea typeface="Trebuchet MS" pitchFamily="34" charset="-122"/>
                <a:cs typeface="Trebuchet MS" pitchFamily="34" charset="-120"/>
              </a:rPr>
              <a:t>10%</a:t>
            </a:r>
            <a:endParaRPr lang="en-US" sz="2600" dirty="0"/>
          </a:p>
        </p:txBody>
      </p:sp>
      <p:sp>
        <p:nvSpPr>
          <p:cNvPr id="32" name="Text 28"/>
          <p:cNvSpPr/>
          <p:nvPr/>
        </p:nvSpPr>
        <p:spPr>
          <a:xfrm>
            <a:off x="9875520" y="5120640"/>
            <a:ext cx="1463040" cy="731520"/>
          </a:xfrm>
          <a:prstGeom prst="rect">
            <a:avLst/>
          </a:prstGeom>
          <a:noFill/>
          <a:ln/>
        </p:spPr>
        <p:txBody>
          <a:bodyPr wrap="square"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Soutenance</a:t>
            </a:r>
            <a:endParaRPr lang="en-US" sz="1200" dirty="0"/>
          </a:p>
        </p:txBody>
      </p:sp>
      <p:sp>
        <p:nvSpPr>
          <p:cNvPr id="33" name="Text 29"/>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34" name="Text 30"/>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CONCEPTION</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Architecture de la solution</a:t>
            </a:r>
            <a:endParaRPr lang="en-US" sz="2600" dirty="0"/>
          </a:p>
        </p:txBody>
      </p:sp>
      <p:sp>
        <p:nvSpPr>
          <p:cNvPr id="7" name="Shape 4"/>
          <p:cNvSpPr/>
          <p:nvPr/>
        </p:nvSpPr>
        <p:spPr>
          <a:xfrm>
            <a:off x="2743200" y="1325880"/>
            <a:ext cx="9052560" cy="4800600"/>
          </a:xfrm>
          <a:prstGeom prst="rect">
            <a:avLst/>
          </a:prstGeom>
          <a:solidFill>
            <a:srgbClr val="FFFFFF"/>
          </a:solidFill>
          <a:ln w="19050">
            <a:solidFill>
              <a:srgbClr val="326CE5"/>
            </a:solidFill>
            <a:prstDash val="solid"/>
          </a:ln>
        </p:spPr>
      </p:sp>
      <p:sp>
        <p:nvSpPr>
          <p:cNvPr id="8" name="Text 5"/>
          <p:cNvSpPr/>
          <p:nvPr/>
        </p:nvSpPr>
        <p:spPr>
          <a:xfrm>
            <a:off x="2880360" y="1371600"/>
            <a:ext cx="8778240" cy="320040"/>
          </a:xfrm>
          <a:prstGeom prst="rect">
            <a:avLst/>
          </a:prstGeom>
          <a:noFill/>
          <a:ln/>
        </p:spPr>
        <p:txBody>
          <a:bodyPr wrap="square" rtlCol="0" anchor="ctr"/>
          <a:lstStyle/>
          <a:p>
            <a:pPr indent="0" marL="0">
              <a:buNone/>
            </a:pPr>
            <a:r>
              <a:rPr lang="en-US" sz="1250" b="1" dirty="0">
                <a:solidFill>
                  <a:srgbClr val="326CE5"/>
                </a:solidFill>
                <a:latin typeface="Trebuchet MS" pitchFamily="34" charset="0"/>
                <a:ea typeface="Trebuchet MS" pitchFamily="34" charset="-122"/>
                <a:cs typeface="Trebuchet MS" pitchFamily="34" charset="-120"/>
              </a:rPr>
              <a:t>Cluster Kubernetes  -  namespace: ecommerce</a:t>
            </a:r>
            <a:endParaRPr lang="en-US" sz="1250" dirty="0"/>
          </a:p>
        </p:txBody>
      </p:sp>
      <p:sp>
        <p:nvSpPr>
          <p:cNvPr id="9" name="Shape 6"/>
          <p:cNvSpPr/>
          <p:nvPr/>
        </p:nvSpPr>
        <p:spPr>
          <a:xfrm>
            <a:off x="457200" y="2743200"/>
            <a:ext cx="1828800" cy="1097280"/>
          </a:xfrm>
          <a:prstGeom prst="roundRect">
            <a:avLst>
              <a:gd name="adj" fmla="val 8333"/>
            </a:avLst>
          </a:prstGeom>
          <a:solidFill>
            <a:srgbClr val="0B1F3A"/>
          </a:solidFill>
          <a:ln/>
        </p:spPr>
      </p:sp>
      <p:sp>
        <p:nvSpPr>
          <p:cNvPr id="10" name="Text 7"/>
          <p:cNvSpPr/>
          <p:nvPr/>
        </p:nvSpPr>
        <p:spPr>
          <a:xfrm>
            <a:off x="457200" y="2743200"/>
            <a:ext cx="1828800" cy="109728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Navigateur</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utilisateur</a:t>
            </a:r>
            <a:endParaRPr lang="en-US" sz="1300" dirty="0"/>
          </a:p>
        </p:txBody>
      </p:sp>
      <p:sp>
        <p:nvSpPr>
          <p:cNvPr id="11" name="Shape 8"/>
          <p:cNvSpPr/>
          <p:nvPr/>
        </p:nvSpPr>
        <p:spPr>
          <a:xfrm>
            <a:off x="2286000" y="3291840"/>
            <a:ext cx="457200" cy="0"/>
          </a:xfrm>
          <a:prstGeom prst="line">
            <a:avLst/>
          </a:prstGeom>
          <a:noFill/>
          <a:ln w="25400">
            <a:solidFill>
              <a:srgbClr val="5B6B7F"/>
            </a:solidFill>
            <a:prstDash val="solid"/>
            <a:tailEnd type="triangle"/>
          </a:ln>
        </p:spPr>
      </p:sp>
      <p:sp>
        <p:nvSpPr>
          <p:cNvPr id="12" name="Text 9"/>
          <p:cNvSpPr/>
          <p:nvPr/>
        </p:nvSpPr>
        <p:spPr>
          <a:xfrm>
            <a:off x="2148840" y="2880360"/>
            <a:ext cx="914400" cy="274320"/>
          </a:xfrm>
          <a:prstGeom prst="rect">
            <a:avLst/>
          </a:prstGeom>
          <a:noFill/>
          <a:ln/>
        </p:spPr>
        <p:txBody>
          <a:bodyPr wrap="square" rtlCol="0" anchor="ctr"/>
          <a:lstStyle/>
          <a:p>
            <a:pPr algn="ctr" indent="0" marL="0">
              <a:buNone/>
            </a:pPr>
            <a:r>
              <a:rPr lang="en-US" sz="850" dirty="0">
                <a:solidFill>
                  <a:srgbClr val="5B6B7F"/>
                </a:solidFill>
                <a:latin typeface="Calibri" pitchFamily="34" charset="0"/>
                <a:ea typeface="Calibri" pitchFamily="34" charset="-122"/>
                <a:cs typeface="Calibri" pitchFamily="34" charset="-120"/>
              </a:rPr>
              <a:t>NodePort 30080</a:t>
            </a:r>
            <a:endParaRPr lang="en-US" sz="850" dirty="0"/>
          </a:p>
        </p:txBody>
      </p:sp>
      <p:sp>
        <p:nvSpPr>
          <p:cNvPr id="13" name="Shape 10"/>
          <p:cNvSpPr/>
          <p:nvPr/>
        </p:nvSpPr>
        <p:spPr>
          <a:xfrm>
            <a:off x="3017520" y="1874520"/>
            <a:ext cx="2743200" cy="1371600"/>
          </a:xfrm>
          <a:prstGeom prst="roundRect">
            <a:avLst>
              <a:gd name="adj" fmla="val 5333"/>
            </a:avLst>
          </a:prstGeom>
          <a:solidFill>
            <a:srgbClr val="F4F6FA"/>
          </a:solidFill>
          <a:ln w="15875">
            <a:solidFill>
              <a:srgbClr val="326CE5"/>
            </a:solidFill>
            <a:prstDash val="solid"/>
          </a:ln>
        </p:spPr>
      </p:sp>
      <p:sp>
        <p:nvSpPr>
          <p:cNvPr id="14" name="Text 11"/>
          <p:cNvSpPr/>
          <p:nvPr/>
        </p:nvSpPr>
        <p:spPr>
          <a:xfrm>
            <a:off x="3108960" y="1965960"/>
            <a:ext cx="2560320" cy="274320"/>
          </a:xfrm>
          <a:prstGeom prst="rect">
            <a:avLst/>
          </a:prstGeom>
          <a:noFill/>
          <a:ln/>
        </p:spPr>
        <p:txBody>
          <a:bodyPr wrap="square" rtlCol="0" anchor="ctr"/>
          <a:lstStyle/>
          <a:p>
            <a:pPr indent="0" marL="0">
              <a:buNone/>
            </a:pPr>
            <a:r>
              <a:rPr lang="en-US" sz="1200" b="1" dirty="0">
                <a:solidFill>
                  <a:srgbClr val="326CE5"/>
                </a:solidFill>
                <a:latin typeface="Trebuchet MS" pitchFamily="34" charset="0"/>
                <a:ea typeface="Trebuchet MS" pitchFamily="34" charset="-122"/>
                <a:cs typeface="Trebuchet MS" pitchFamily="34" charset="-120"/>
              </a:rPr>
              <a:t>Pod 1 - Frontend</a:t>
            </a:r>
            <a:endParaRPr lang="en-US" sz="1200" dirty="0"/>
          </a:p>
        </p:txBody>
      </p:sp>
      <p:sp>
        <p:nvSpPr>
          <p:cNvPr id="15" name="Text 12"/>
          <p:cNvSpPr/>
          <p:nvPr/>
        </p:nvSpPr>
        <p:spPr>
          <a:xfrm>
            <a:off x="3154680" y="2286000"/>
            <a:ext cx="2560320" cy="868680"/>
          </a:xfrm>
          <a:prstGeom prst="rect">
            <a:avLst/>
          </a:prstGeom>
          <a:noFill/>
          <a:ln/>
        </p:spPr>
        <p:txBody>
          <a:bodyPr wrap="square" rtlCol="0" anchor="ctr"/>
          <a:lstStyle/>
          <a:p>
            <a:pPr marL="342900" indent="-342900">
              <a:buSzPct val="100000"/>
              <a:buChar char="•"/>
            </a:pPr>
            <a:r>
              <a:rPr lang="en-US" sz="1050" dirty="0">
                <a:solidFill>
                  <a:srgbClr val="1A2233"/>
                </a:solidFill>
                <a:latin typeface="Calibri" pitchFamily="34" charset="0"/>
                <a:ea typeface="Calibri" pitchFamily="34" charset="-122"/>
                <a:cs typeface="Calibri" pitchFamily="34" charset="-120"/>
              </a:rPr>
              <a:t>Nginx + React (x2 replicas)</a:t>
            </a:r>
            <a:endParaRPr lang="en-US" sz="1050" dirty="0"/>
          </a:p>
          <a:p>
            <a:pPr marL="342900" indent="-342900">
              <a:buSzPct val="100000"/>
              <a:buChar char="•"/>
            </a:pPr>
            <a:r>
              <a:rPr lang="en-US" sz="1050" dirty="0">
                <a:solidFill>
                  <a:srgbClr val="1A2233"/>
                </a:solidFill>
                <a:latin typeface="Calibri" pitchFamily="34" charset="0"/>
                <a:ea typeface="Calibri" pitchFamily="34" charset="-122"/>
                <a:cs typeface="Calibri" pitchFamily="34" charset="-120"/>
              </a:rPr>
              <a:t>proxy /api  -&gt;  backend</a:t>
            </a:r>
            <a:endParaRPr lang="en-US" sz="1050" dirty="0"/>
          </a:p>
        </p:txBody>
      </p:sp>
      <p:sp>
        <p:nvSpPr>
          <p:cNvPr id="16" name="Shape 13"/>
          <p:cNvSpPr/>
          <p:nvPr/>
        </p:nvSpPr>
        <p:spPr>
          <a:xfrm>
            <a:off x="4389120" y="3246120"/>
            <a:ext cx="0" cy="502920"/>
          </a:xfrm>
          <a:prstGeom prst="line">
            <a:avLst/>
          </a:prstGeom>
          <a:noFill/>
          <a:ln w="25400">
            <a:solidFill>
              <a:srgbClr val="00B4D8"/>
            </a:solidFill>
            <a:prstDash val="solid"/>
            <a:tailEnd type="triangle"/>
          </a:ln>
        </p:spPr>
      </p:sp>
      <p:sp>
        <p:nvSpPr>
          <p:cNvPr id="17" name="Text 14"/>
          <p:cNvSpPr/>
          <p:nvPr/>
        </p:nvSpPr>
        <p:spPr>
          <a:xfrm>
            <a:off x="4526280" y="3310128"/>
            <a:ext cx="2926080" cy="274320"/>
          </a:xfrm>
          <a:prstGeom prst="rect">
            <a:avLst/>
          </a:prstGeom>
          <a:noFill/>
          <a:ln/>
        </p:spPr>
        <p:txBody>
          <a:bodyPr wrap="square" rtlCol="0" anchor="ctr"/>
          <a:lstStyle/>
          <a:p>
            <a:pPr indent="0" marL="0">
              <a:buNone/>
            </a:pPr>
            <a:r>
              <a:rPr lang="en-US" sz="850" dirty="0">
                <a:solidFill>
                  <a:srgbClr val="00B4D8"/>
                </a:solidFill>
                <a:latin typeface="Calibri" pitchFamily="34" charset="0"/>
                <a:ea typeface="Calibri" pitchFamily="34" charset="-122"/>
                <a:cs typeface="Calibri" pitchFamily="34" charset="-120"/>
              </a:rPr>
              <a:t>backend-service:3000 (ClusterIP)</a:t>
            </a:r>
            <a:endParaRPr lang="en-US" sz="850" dirty="0"/>
          </a:p>
        </p:txBody>
      </p:sp>
      <p:sp>
        <p:nvSpPr>
          <p:cNvPr id="18" name="Shape 15"/>
          <p:cNvSpPr/>
          <p:nvPr/>
        </p:nvSpPr>
        <p:spPr>
          <a:xfrm>
            <a:off x="3017520" y="3794760"/>
            <a:ext cx="3108960" cy="1828800"/>
          </a:xfrm>
          <a:prstGeom prst="roundRect">
            <a:avLst>
              <a:gd name="adj" fmla="val 4000"/>
            </a:avLst>
          </a:prstGeom>
          <a:solidFill>
            <a:srgbClr val="F4F6FA"/>
          </a:solidFill>
          <a:ln w="15875">
            <a:solidFill>
              <a:srgbClr val="326CE5"/>
            </a:solidFill>
            <a:prstDash val="solid"/>
          </a:ln>
        </p:spPr>
      </p:sp>
      <p:sp>
        <p:nvSpPr>
          <p:cNvPr id="19" name="Text 16"/>
          <p:cNvSpPr/>
          <p:nvPr/>
        </p:nvSpPr>
        <p:spPr>
          <a:xfrm>
            <a:off x="3108960" y="3886200"/>
            <a:ext cx="2926080" cy="274320"/>
          </a:xfrm>
          <a:prstGeom prst="rect">
            <a:avLst/>
          </a:prstGeom>
          <a:noFill/>
          <a:ln/>
        </p:spPr>
        <p:txBody>
          <a:bodyPr wrap="square" rtlCol="0" anchor="ctr"/>
          <a:lstStyle/>
          <a:p>
            <a:pPr indent="0" marL="0">
              <a:buNone/>
            </a:pPr>
            <a:r>
              <a:rPr lang="en-US" sz="1200" b="1" dirty="0">
                <a:solidFill>
                  <a:srgbClr val="326CE5"/>
                </a:solidFill>
                <a:latin typeface="Trebuchet MS" pitchFamily="34" charset="0"/>
                <a:ea typeface="Trebuchet MS" pitchFamily="34" charset="-122"/>
                <a:cs typeface="Trebuchet MS" pitchFamily="34" charset="-120"/>
              </a:rPr>
              <a:t>Pod 2 - Backend + DB</a:t>
            </a:r>
            <a:endParaRPr lang="en-US" sz="1200" dirty="0"/>
          </a:p>
        </p:txBody>
      </p:sp>
      <p:sp>
        <p:nvSpPr>
          <p:cNvPr id="20" name="Shape 17"/>
          <p:cNvSpPr/>
          <p:nvPr/>
        </p:nvSpPr>
        <p:spPr>
          <a:xfrm>
            <a:off x="3154680" y="4224528"/>
            <a:ext cx="2834640" cy="457200"/>
          </a:xfrm>
          <a:prstGeom prst="rect">
            <a:avLst/>
          </a:prstGeom>
          <a:solidFill>
            <a:srgbClr val="FFFFFF"/>
          </a:solidFill>
          <a:ln w="12700">
            <a:solidFill>
              <a:srgbClr val="DDE3EC"/>
            </a:solidFill>
            <a:prstDash val="solid"/>
          </a:ln>
        </p:spPr>
      </p:sp>
      <p:sp>
        <p:nvSpPr>
          <p:cNvPr id="21" name="Text 18"/>
          <p:cNvSpPr/>
          <p:nvPr/>
        </p:nvSpPr>
        <p:spPr>
          <a:xfrm>
            <a:off x="3200400" y="4224528"/>
            <a:ext cx="2743200" cy="457200"/>
          </a:xfrm>
          <a:prstGeom prst="rect">
            <a:avLst/>
          </a:prstGeom>
          <a:noFill/>
          <a:ln/>
        </p:spPr>
        <p:txBody>
          <a:bodyPr wrap="square" rtlCol="0" anchor="ctr"/>
          <a:lstStyle/>
          <a:p>
            <a:pPr indent="0" marL="0">
              <a:buNone/>
            </a:pPr>
            <a:r>
              <a:rPr lang="en-US" sz="950" dirty="0">
                <a:solidFill>
                  <a:srgbClr val="1A2233"/>
                </a:solidFill>
                <a:latin typeface="Consolas" pitchFamily="34" charset="0"/>
                <a:ea typeface="Consolas" pitchFamily="34" charset="-122"/>
                <a:cs typeface="Consolas" pitchFamily="34" charset="-120"/>
              </a:rPr>
              <a:t>backend Node.js  : 3000</a:t>
            </a:r>
            <a:endParaRPr lang="en-US" sz="950" dirty="0"/>
          </a:p>
        </p:txBody>
      </p:sp>
      <p:sp>
        <p:nvSpPr>
          <p:cNvPr id="22" name="Shape 19"/>
          <p:cNvSpPr/>
          <p:nvPr/>
        </p:nvSpPr>
        <p:spPr>
          <a:xfrm>
            <a:off x="3154680" y="4736592"/>
            <a:ext cx="2834640" cy="457200"/>
          </a:xfrm>
          <a:prstGeom prst="rect">
            <a:avLst/>
          </a:prstGeom>
          <a:solidFill>
            <a:srgbClr val="FFFFFF"/>
          </a:solidFill>
          <a:ln w="12700">
            <a:solidFill>
              <a:srgbClr val="DDE3EC"/>
            </a:solidFill>
            <a:prstDash val="solid"/>
          </a:ln>
        </p:spPr>
      </p:sp>
      <p:sp>
        <p:nvSpPr>
          <p:cNvPr id="23" name="Text 20"/>
          <p:cNvSpPr/>
          <p:nvPr/>
        </p:nvSpPr>
        <p:spPr>
          <a:xfrm>
            <a:off x="3200400" y="4736592"/>
            <a:ext cx="2743200" cy="457200"/>
          </a:xfrm>
          <a:prstGeom prst="rect">
            <a:avLst/>
          </a:prstGeom>
          <a:noFill/>
          <a:ln/>
        </p:spPr>
        <p:txBody>
          <a:bodyPr wrap="square" rtlCol="0" anchor="ctr"/>
          <a:lstStyle/>
          <a:p>
            <a:pPr indent="0" marL="0">
              <a:buNone/>
            </a:pPr>
            <a:r>
              <a:rPr lang="en-US" sz="950" dirty="0">
                <a:solidFill>
                  <a:srgbClr val="1A2233"/>
                </a:solidFill>
                <a:latin typeface="Consolas" pitchFamily="34" charset="0"/>
                <a:ea typeface="Consolas" pitchFamily="34" charset="-122"/>
                <a:cs typeface="Consolas" pitchFamily="34" charset="-120"/>
              </a:rPr>
              <a:t>mongodb        : 27017</a:t>
            </a:r>
            <a:endParaRPr lang="en-US" sz="950" dirty="0"/>
          </a:p>
        </p:txBody>
      </p:sp>
      <p:sp>
        <p:nvSpPr>
          <p:cNvPr id="24" name="Text 21"/>
          <p:cNvSpPr/>
          <p:nvPr/>
        </p:nvSpPr>
        <p:spPr>
          <a:xfrm>
            <a:off x="3200400" y="5212080"/>
            <a:ext cx="2834640" cy="274320"/>
          </a:xfrm>
          <a:prstGeom prst="rect">
            <a:avLst/>
          </a:prstGeom>
          <a:noFill/>
          <a:ln/>
        </p:spPr>
        <p:txBody>
          <a:bodyPr wrap="square" rtlCol="0" anchor="ctr"/>
          <a:lstStyle/>
          <a:p>
            <a:pPr indent="0" marL="0">
              <a:buNone/>
            </a:pPr>
            <a:r>
              <a:rPr lang="en-US" sz="850" i="1" dirty="0">
                <a:solidFill>
                  <a:srgbClr val="5B6B7F"/>
                </a:solidFill>
                <a:latin typeface="Calibri" pitchFamily="34" charset="0"/>
                <a:ea typeface="Calibri" pitchFamily="34" charset="-122"/>
                <a:cs typeface="Calibri" pitchFamily="34" charset="-120"/>
              </a:rPr>
              <a:t>communication via localhost</a:t>
            </a:r>
            <a:endParaRPr lang="en-US" sz="850" dirty="0"/>
          </a:p>
        </p:txBody>
      </p:sp>
      <p:sp>
        <p:nvSpPr>
          <p:cNvPr id="25" name="Shape 22"/>
          <p:cNvSpPr/>
          <p:nvPr/>
        </p:nvSpPr>
        <p:spPr>
          <a:xfrm>
            <a:off x="6126480" y="4937760"/>
            <a:ext cx="502920" cy="0"/>
          </a:xfrm>
          <a:prstGeom prst="line">
            <a:avLst/>
          </a:prstGeom>
          <a:noFill/>
          <a:ln w="25400">
            <a:solidFill>
              <a:srgbClr val="5B6B7F"/>
            </a:solidFill>
            <a:prstDash val="solid"/>
            <a:tailEnd type="triangle"/>
          </a:ln>
        </p:spPr>
      </p:sp>
      <p:sp>
        <p:nvSpPr>
          <p:cNvPr id="26" name="Shape 23"/>
          <p:cNvSpPr/>
          <p:nvPr/>
        </p:nvSpPr>
        <p:spPr>
          <a:xfrm>
            <a:off x="6675120" y="4297680"/>
            <a:ext cx="2194560" cy="1325880"/>
          </a:xfrm>
          <a:prstGeom prst="roundRect">
            <a:avLst>
              <a:gd name="adj" fmla="val 5517"/>
            </a:avLst>
          </a:prstGeom>
          <a:solidFill>
            <a:srgbClr val="12305C"/>
          </a:solidFill>
          <a:ln/>
        </p:spPr>
      </p:sp>
      <p:sp>
        <p:nvSpPr>
          <p:cNvPr id="27" name="Text 24"/>
          <p:cNvSpPr/>
          <p:nvPr/>
        </p:nvSpPr>
        <p:spPr>
          <a:xfrm>
            <a:off x="6675120" y="4389120"/>
            <a:ext cx="2194560" cy="274320"/>
          </a:xfrm>
          <a:prstGeom prst="rect">
            <a:avLst/>
          </a:prstGeom>
          <a:noFill/>
          <a:ln/>
        </p:spPr>
        <p:txBody>
          <a:bodyPr wrap="square" rtlCol="0" anchor="ctr"/>
          <a:lstStyle/>
          <a:p>
            <a:pPr algn="ctr" indent="0" marL="0">
              <a:buNone/>
            </a:pPr>
            <a:r>
              <a:rPr lang="en-US" sz="1200" b="1" dirty="0">
                <a:solidFill>
                  <a:srgbClr val="00B4D8"/>
                </a:solidFill>
                <a:latin typeface="Trebuchet MS" pitchFamily="34" charset="0"/>
                <a:ea typeface="Trebuchet MS" pitchFamily="34" charset="-122"/>
                <a:cs typeface="Trebuchet MS" pitchFamily="34" charset="-120"/>
              </a:rPr>
              <a:t>PV / PVC</a:t>
            </a:r>
            <a:endParaRPr lang="en-US" sz="1200" dirty="0"/>
          </a:p>
        </p:txBody>
      </p:sp>
      <p:sp>
        <p:nvSpPr>
          <p:cNvPr id="28" name="Text 25"/>
          <p:cNvSpPr/>
          <p:nvPr/>
        </p:nvSpPr>
        <p:spPr>
          <a:xfrm>
            <a:off x="6675120" y="4663440"/>
            <a:ext cx="2194560" cy="914400"/>
          </a:xfrm>
          <a:prstGeom prst="rect">
            <a:avLst/>
          </a:prstGeom>
          <a:noFill/>
          <a:ln/>
        </p:spPr>
        <p:txBody>
          <a:bodyPr wrap="square" rtlCol="0" anchor="ctr"/>
          <a:lstStyle/>
          <a:p>
            <a:pPr algn="ctr" indent="0" marL="0">
              <a:buNone/>
            </a:pPr>
            <a:r>
              <a:rPr lang="en-US" sz="900" dirty="0">
                <a:solidFill>
                  <a:srgbClr val="FFFFFF"/>
                </a:solidFill>
                <a:latin typeface="Consolas" pitchFamily="34" charset="0"/>
                <a:ea typeface="Consolas" pitchFamily="34" charset="-122"/>
                <a:cs typeface="Consolas" pitchFamily="34" charset="-120"/>
              </a:rPr>
              <a:t>hostPath</a:t>
            </a:r>
            <a:endParaRPr lang="en-US" sz="900" dirty="0"/>
          </a:p>
          <a:p>
            <a:pPr algn="ctr" indent="0" marL="0">
              <a:buNone/>
            </a:pPr>
            <a:r>
              <a:rPr lang="en-US" sz="900" dirty="0">
                <a:solidFill>
                  <a:srgbClr val="FFFFFF"/>
                </a:solidFill>
                <a:latin typeface="Consolas" pitchFamily="34" charset="0"/>
                <a:ea typeface="Consolas" pitchFamily="34" charset="-122"/>
                <a:cs typeface="Consolas" pitchFamily="34" charset="-120"/>
              </a:rPr>
              <a:t>/mnt/data/mongo</a:t>
            </a:r>
            <a:endParaRPr lang="en-US" sz="900" dirty="0"/>
          </a:p>
          <a:p>
            <a:pPr algn="ctr" indent="0" marL="0">
              <a:buNone/>
            </a:pPr>
            <a:r>
              <a:rPr lang="en-US" sz="900" dirty="0">
                <a:solidFill>
                  <a:srgbClr val="FFFFFF"/>
                </a:solidFill>
                <a:latin typeface="Consolas" pitchFamily="34" charset="0"/>
                <a:ea typeface="Consolas" pitchFamily="34" charset="-122"/>
                <a:cs typeface="Consolas" pitchFamily="34" charset="-120"/>
              </a:rPr>
              <a:t>2 Gi - RWO</a:t>
            </a:r>
            <a:endParaRPr lang="en-US" sz="900" dirty="0"/>
          </a:p>
        </p:txBody>
      </p:sp>
      <p:sp>
        <p:nvSpPr>
          <p:cNvPr id="29" name="Shape 26"/>
          <p:cNvSpPr/>
          <p:nvPr/>
        </p:nvSpPr>
        <p:spPr>
          <a:xfrm>
            <a:off x="9098280" y="1874520"/>
            <a:ext cx="2514600" cy="1828800"/>
          </a:xfrm>
          <a:prstGeom prst="roundRect">
            <a:avLst>
              <a:gd name="adj" fmla="val 4000"/>
            </a:avLst>
          </a:prstGeom>
          <a:solidFill>
            <a:srgbClr val="F4F6FA"/>
          </a:solidFill>
          <a:ln w="15875">
            <a:solidFill>
              <a:srgbClr val="00B4D8"/>
            </a:solidFill>
            <a:prstDash val="solid"/>
          </a:ln>
        </p:spPr>
      </p:sp>
      <p:sp>
        <p:nvSpPr>
          <p:cNvPr id="30" name="Text 27"/>
          <p:cNvSpPr/>
          <p:nvPr/>
        </p:nvSpPr>
        <p:spPr>
          <a:xfrm>
            <a:off x="9189720" y="1965960"/>
            <a:ext cx="2331720" cy="274320"/>
          </a:xfrm>
          <a:prstGeom prst="rect">
            <a:avLst/>
          </a:prstGeom>
          <a:noFill/>
          <a:ln/>
        </p:spPr>
        <p:txBody>
          <a:bodyPr wrap="square" rtlCol="0" anchor="ctr"/>
          <a:lstStyle/>
          <a:p>
            <a:pPr indent="0" marL="0">
              <a:buNone/>
            </a:pPr>
            <a:r>
              <a:rPr lang="en-US" sz="1200" b="1" dirty="0">
                <a:solidFill>
                  <a:srgbClr val="00B4D8"/>
                </a:solidFill>
                <a:latin typeface="Trebuchet MS" pitchFamily="34" charset="0"/>
                <a:ea typeface="Trebuchet MS" pitchFamily="34" charset="-122"/>
                <a:cs typeface="Trebuchet MS" pitchFamily="34" charset="-120"/>
              </a:rPr>
              <a:t>Pod 3 - Monitoring</a:t>
            </a:r>
            <a:endParaRPr lang="en-US" sz="1200" dirty="0"/>
          </a:p>
        </p:txBody>
      </p:sp>
      <p:sp>
        <p:nvSpPr>
          <p:cNvPr id="31" name="Text 28"/>
          <p:cNvSpPr/>
          <p:nvPr/>
        </p:nvSpPr>
        <p:spPr>
          <a:xfrm>
            <a:off x="9235440" y="2286000"/>
            <a:ext cx="2331720" cy="1280160"/>
          </a:xfrm>
          <a:prstGeom prst="rect">
            <a:avLst/>
          </a:prstGeom>
          <a:noFill/>
          <a:ln/>
        </p:spPr>
        <p:txBody>
          <a:bodyPr wrap="square" rtlCol="0" anchor="ctr"/>
          <a:lstStyle/>
          <a:p>
            <a:pPr indent="0" marL="0">
              <a:spcAft>
                <a:spcPts val="300"/>
              </a:spcAft>
              <a:buNone/>
            </a:pPr>
            <a:r>
              <a:rPr lang="en-US" sz="950" dirty="0">
                <a:solidFill>
                  <a:srgbClr val="1A2233"/>
                </a:solidFill>
                <a:latin typeface="Consolas" pitchFamily="34" charset="0"/>
                <a:ea typeface="Consolas" pitchFamily="34" charset="-122"/>
                <a:cs typeface="Consolas" pitchFamily="34" charset="-120"/>
              </a:rPr>
              <a:t>Prometheus : 9090</a:t>
            </a:r>
            <a:endParaRPr lang="en-US" sz="950" dirty="0"/>
          </a:p>
          <a:p>
            <a:pPr indent="0" marL="0">
              <a:spcAft>
                <a:spcPts val="300"/>
              </a:spcAft>
              <a:buNone/>
            </a:pPr>
            <a:r>
              <a:rPr lang="en-US" sz="950" dirty="0">
                <a:solidFill>
                  <a:srgbClr val="1A2233"/>
                </a:solidFill>
                <a:latin typeface="Consolas" pitchFamily="34" charset="0"/>
                <a:ea typeface="Consolas" pitchFamily="34" charset="-122"/>
                <a:cs typeface="Consolas" pitchFamily="34" charset="-120"/>
              </a:rPr>
              <a:t>Grafana : 3000</a:t>
            </a:r>
            <a:endParaRPr lang="en-US" sz="950" dirty="0"/>
          </a:p>
          <a:p>
            <a:pPr indent="0" marL="0">
              <a:spcAft>
                <a:spcPts val="300"/>
              </a:spcAft>
              <a:buNone/>
            </a:pPr>
            <a:r>
              <a:rPr lang="en-US" sz="950" dirty="0">
                <a:solidFill>
                  <a:srgbClr val="1A2233"/>
                </a:solidFill>
                <a:latin typeface="Consolas" pitchFamily="34" charset="0"/>
                <a:ea typeface="Consolas" pitchFamily="34" charset="-122"/>
                <a:cs typeface="Consolas" pitchFamily="34" charset="-120"/>
              </a:rPr>
              <a:t>scrape backend</a:t>
            </a:r>
            <a:endParaRPr lang="en-US" sz="950" dirty="0"/>
          </a:p>
          <a:p>
            <a:pPr indent="0" marL="0">
              <a:spcAft>
                <a:spcPts val="300"/>
              </a:spcAft>
              <a:buNone/>
            </a:pPr>
            <a:r>
              <a:rPr lang="en-US" sz="950" dirty="0">
                <a:solidFill>
                  <a:srgbClr val="1A2233"/>
                </a:solidFill>
                <a:latin typeface="Consolas" pitchFamily="34" charset="0"/>
                <a:ea typeface="Consolas" pitchFamily="34" charset="-122"/>
                <a:cs typeface="Consolas" pitchFamily="34" charset="-120"/>
              </a:rPr>
              <a:t>  /metrics</a:t>
            </a:r>
            <a:endParaRPr lang="en-US" sz="950" dirty="0"/>
          </a:p>
        </p:txBody>
      </p:sp>
      <p:sp>
        <p:nvSpPr>
          <p:cNvPr id="32" name="Text 29"/>
          <p:cNvSpPr/>
          <p:nvPr/>
        </p:nvSpPr>
        <p:spPr>
          <a:xfrm>
            <a:off x="9098280" y="3712464"/>
            <a:ext cx="2514600" cy="274320"/>
          </a:xfrm>
          <a:prstGeom prst="rect">
            <a:avLst/>
          </a:prstGeom>
          <a:noFill/>
          <a:ln/>
        </p:spPr>
        <p:txBody>
          <a:bodyPr wrap="square" rtlCol="0" anchor="ctr"/>
          <a:lstStyle/>
          <a:p>
            <a:pPr algn="ctr" indent="0" marL="0">
              <a:buNone/>
            </a:pPr>
            <a:r>
              <a:rPr lang="en-US" sz="850" dirty="0">
                <a:solidFill>
                  <a:srgbClr val="5B6B7F"/>
                </a:solidFill>
                <a:latin typeface="Calibri" pitchFamily="34" charset="0"/>
                <a:ea typeface="Calibri" pitchFamily="34" charset="-122"/>
                <a:cs typeface="Calibri" pitchFamily="34" charset="-120"/>
              </a:rPr>
              <a:t>NodePort 30090 / 30030</a:t>
            </a:r>
            <a:endParaRPr lang="en-US" sz="850" dirty="0"/>
          </a:p>
        </p:txBody>
      </p:sp>
      <p:sp>
        <p:nvSpPr>
          <p:cNvPr id="33" name="Text 30"/>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34" name="Text 31"/>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STACK</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Choix techniques</a:t>
            </a:r>
            <a:endParaRPr lang="en-US" sz="2600" dirty="0"/>
          </a:p>
        </p:txBody>
      </p:sp>
      <p:sp>
        <p:nvSpPr>
          <p:cNvPr id="7" name="Shape 4"/>
          <p:cNvSpPr/>
          <p:nvPr/>
        </p:nvSpPr>
        <p:spPr>
          <a:xfrm>
            <a:off x="548640" y="1371600"/>
            <a:ext cx="3520440" cy="29260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Shape 5"/>
          <p:cNvSpPr/>
          <p:nvPr/>
        </p:nvSpPr>
        <p:spPr>
          <a:xfrm>
            <a:off x="548640" y="1371600"/>
            <a:ext cx="3520440" cy="548640"/>
          </a:xfrm>
          <a:prstGeom prst="rect">
            <a:avLst/>
          </a:prstGeom>
          <a:solidFill>
            <a:srgbClr val="326CE5"/>
          </a:solidFill>
          <a:ln/>
        </p:spPr>
      </p:sp>
      <p:sp>
        <p:nvSpPr>
          <p:cNvPr id="9" name="Text 6"/>
          <p:cNvSpPr/>
          <p:nvPr/>
        </p:nvSpPr>
        <p:spPr>
          <a:xfrm>
            <a:off x="548640" y="1371600"/>
            <a:ext cx="3520440" cy="54864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FRONTEND</a:t>
            </a:r>
            <a:endParaRPr lang="en-US" sz="1500" dirty="0"/>
          </a:p>
        </p:txBody>
      </p:sp>
      <p:sp>
        <p:nvSpPr>
          <p:cNvPr id="10" name="Text 7"/>
          <p:cNvSpPr/>
          <p:nvPr/>
        </p:nvSpPr>
        <p:spPr>
          <a:xfrm>
            <a:off x="777240" y="2057400"/>
            <a:ext cx="3108960" cy="2103120"/>
          </a:xfrm>
          <a:prstGeom prst="rect">
            <a:avLst/>
          </a:prstGeom>
          <a:noFill/>
          <a:ln/>
        </p:spPr>
        <p:txBody>
          <a:bodyPr wrap="square" rtlCol="0" anchor="ctr"/>
          <a:lstStyle/>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React 18 + Vite</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Servi par Nginx 1.27</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Build statique multi-stage</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Reverse-proxy /api</a:t>
            </a:r>
            <a:endParaRPr lang="en-US" sz="1300" dirty="0"/>
          </a:p>
        </p:txBody>
      </p:sp>
      <p:sp>
        <p:nvSpPr>
          <p:cNvPr id="11" name="Shape 8"/>
          <p:cNvSpPr/>
          <p:nvPr/>
        </p:nvSpPr>
        <p:spPr>
          <a:xfrm>
            <a:off x="4315968" y="1371600"/>
            <a:ext cx="3520440" cy="29260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2" name="Shape 9"/>
          <p:cNvSpPr/>
          <p:nvPr/>
        </p:nvSpPr>
        <p:spPr>
          <a:xfrm>
            <a:off x="4315968" y="1371600"/>
            <a:ext cx="3520440" cy="548640"/>
          </a:xfrm>
          <a:prstGeom prst="rect">
            <a:avLst/>
          </a:prstGeom>
          <a:solidFill>
            <a:srgbClr val="00B4D8"/>
          </a:solidFill>
          <a:ln/>
        </p:spPr>
      </p:sp>
      <p:sp>
        <p:nvSpPr>
          <p:cNvPr id="13" name="Text 10"/>
          <p:cNvSpPr/>
          <p:nvPr/>
        </p:nvSpPr>
        <p:spPr>
          <a:xfrm>
            <a:off x="4315968" y="1371600"/>
            <a:ext cx="3520440" cy="54864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BACKEND</a:t>
            </a:r>
            <a:endParaRPr lang="en-US" sz="1500" dirty="0"/>
          </a:p>
        </p:txBody>
      </p:sp>
      <p:sp>
        <p:nvSpPr>
          <p:cNvPr id="14" name="Text 11"/>
          <p:cNvSpPr/>
          <p:nvPr/>
        </p:nvSpPr>
        <p:spPr>
          <a:xfrm>
            <a:off x="4544568" y="2057400"/>
            <a:ext cx="3108960" cy="2103120"/>
          </a:xfrm>
          <a:prstGeom prst="rect">
            <a:avLst/>
          </a:prstGeom>
          <a:noFill/>
          <a:ln/>
        </p:spPr>
        <p:txBody>
          <a:bodyPr wrap="square" rtlCol="0" anchor="ctr"/>
          <a:lstStyle/>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Node.js 20 + Express</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Driver MongoDB officiel</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prom-client (/metrics)</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Retry de connexion DB</a:t>
            </a:r>
            <a:endParaRPr lang="en-US" sz="1300" dirty="0"/>
          </a:p>
        </p:txBody>
      </p:sp>
      <p:sp>
        <p:nvSpPr>
          <p:cNvPr id="15" name="Shape 12"/>
          <p:cNvSpPr/>
          <p:nvPr/>
        </p:nvSpPr>
        <p:spPr>
          <a:xfrm>
            <a:off x="8083296" y="1371600"/>
            <a:ext cx="3520440" cy="29260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6" name="Shape 13"/>
          <p:cNvSpPr/>
          <p:nvPr/>
        </p:nvSpPr>
        <p:spPr>
          <a:xfrm>
            <a:off x="8083296" y="1371600"/>
            <a:ext cx="3520440" cy="548640"/>
          </a:xfrm>
          <a:prstGeom prst="rect">
            <a:avLst/>
          </a:prstGeom>
          <a:solidFill>
            <a:srgbClr val="12305C"/>
          </a:solidFill>
          <a:ln/>
        </p:spPr>
      </p:sp>
      <p:sp>
        <p:nvSpPr>
          <p:cNvPr id="17" name="Text 14"/>
          <p:cNvSpPr/>
          <p:nvPr/>
        </p:nvSpPr>
        <p:spPr>
          <a:xfrm>
            <a:off x="8083296" y="1371600"/>
            <a:ext cx="3520440" cy="54864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DATA / INFRA</a:t>
            </a:r>
            <a:endParaRPr lang="en-US" sz="1500" dirty="0"/>
          </a:p>
        </p:txBody>
      </p:sp>
      <p:sp>
        <p:nvSpPr>
          <p:cNvPr id="18" name="Text 15"/>
          <p:cNvSpPr/>
          <p:nvPr/>
        </p:nvSpPr>
        <p:spPr>
          <a:xfrm>
            <a:off x="8311896" y="2057400"/>
            <a:ext cx="3108960" cy="2103120"/>
          </a:xfrm>
          <a:prstGeom prst="rect">
            <a:avLst/>
          </a:prstGeom>
          <a:noFill/>
          <a:ln/>
        </p:spPr>
        <p:txBody>
          <a:bodyPr wrap="square" rtlCol="0" anchor="ctr"/>
          <a:lstStyle/>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MongoDB 7.0</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Cluster via kind</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Prometheus + Grafana</a:t>
            </a:r>
            <a:endParaRPr lang="en-US" sz="1300" dirty="0"/>
          </a:p>
          <a:p>
            <a:pPr marL="342900" indent="-3429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Images Docker locales</a:t>
            </a:r>
            <a:endParaRPr lang="en-US" sz="1300" dirty="0"/>
          </a:p>
        </p:txBody>
      </p:sp>
      <p:sp>
        <p:nvSpPr>
          <p:cNvPr id="19" name="Shape 16"/>
          <p:cNvSpPr/>
          <p:nvPr/>
        </p:nvSpPr>
        <p:spPr>
          <a:xfrm>
            <a:off x="548640" y="4526280"/>
            <a:ext cx="11064240" cy="1600200"/>
          </a:xfrm>
          <a:prstGeom prst="rect">
            <a:avLst/>
          </a:prstGeom>
          <a:solidFill>
            <a:srgbClr val="0B1F3A"/>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20" name="Text 17"/>
          <p:cNvSpPr/>
          <p:nvPr/>
        </p:nvSpPr>
        <p:spPr>
          <a:xfrm>
            <a:off x="777240" y="4645152"/>
            <a:ext cx="10607040" cy="320040"/>
          </a:xfrm>
          <a:prstGeom prst="rect">
            <a:avLst/>
          </a:prstGeom>
          <a:noFill/>
          <a:ln/>
        </p:spPr>
        <p:txBody>
          <a:bodyPr wrap="square" rtlCol="0" anchor="ctr"/>
          <a:lstStyle/>
          <a:p>
            <a:pPr indent="0" marL="0">
              <a:buNone/>
            </a:pPr>
            <a:r>
              <a:rPr lang="en-US" sz="1400" b="1" dirty="0">
                <a:solidFill>
                  <a:srgbClr val="00B4D8"/>
                </a:solidFill>
                <a:latin typeface="Trebuchet MS" pitchFamily="34" charset="0"/>
                <a:ea typeface="Trebuchet MS" pitchFamily="34" charset="-122"/>
                <a:cs typeface="Trebuchet MS" pitchFamily="34" charset="-120"/>
              </a:rPr>
              <a:t>Pourquoi ces choix ?</a:t>
            </a:r>
            <a:endParaRPr lang="en-US" sz="1400" dirty="0"/>
          </a:p>
        </p:txBody>
      </p:sp>
      <p:sp>
        <p:nvSpPr>
          <p:cNvPr id="21" name="Text 18"/>
          <p:cNvSpPr/>
          <p:nvPr/>
        </p:nvSpPr>
        <p:spPr>
          <a:xfrm>
            <a:off x="777240" y="4983480"/>
            <a:ext cx="10607040" cy="1097280"/>
          </a:xfrm>
          <a:prstGeom prst="rect">
            <a:avLst/>
          </a:prstGeom>
          <a:noFill/>
          <a:ln/>
        </p:spPr>
        <p:txBody>
          <a:bodyPr wrap="square" rtlCol="0" anchor="ctr"/>
          <a:lstStyle/>
          <a:p>
            <a:pPr marL="342900" indent="-3429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Stack JavaScript homogene (front + back) - courbe d'apprentissage reduite, demo rapide.</a:t>
            </a:r>
            <a:endParaRPr lang="en-US" sz="1250" dirty="0"/>
          </a:p>
          <a:p>
            <a:pPr marL="342900" indent="-3429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MongoDB : schema flexible, ideal pour un catalogue produits + commandes.</a:t>
            </a:r>
            <a:endParaRPr lang="en-US" sz="1250" dirty="0"/>
          </a:p>
          <a:p>
            <a:pPr marL="342900" indent="-3429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kind : cluster 100% scriptable et reproductible, sans dependance a une infra cloud.</a:t>
            </a:r>
            <a:endParaRPr lang="en-US" sz="1250" dirty="0"/>
          </a:p>
        </p:txBody>
      </p:sp>
      <p:sp>
        <p:nvSpPr>
          <p:cNvPr id="22" name="Text 19"/>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23" name="Text 20"/>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CONTENEURISATION</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Images &amp; Dockerfiles</a:t>
            </a:r>
            <a:endParaRPr lang="en-US" sz="2600" dirty="0"/>
          </a:p>
        </p:txBody>
      </p:sp>
      <p:sp>
        <p:nvSpPr>
          <p:cNvPr id="7" name="Shape 4"/>
          <p:cNvSpPr/>
          <p:nvPr/>
        </p:nvSpPr>
        <p:spPr>
          <a:xfrm>
            <a:off x="548640" y="1371600"/>
            <a:ext cx="5486400" cy="33832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Text 5"/>
          <p:cNvSpPr/>
          <p:nvPr/>
        </p:nvSpPr>
        <p:spPr>
          <a:xfrm>
            <a:off x="777240" y="1481328"/>
            <a:ext cx="5029200" cy="320040"/>
          </a:xfrm>
          <a:prstGeom prst="rect">
            <a:avLst/>
          </a:prstGeom>
          <a:noFill/>
          <a:ln/>
        </p:spPr>
        <p:txBody>
          <a:bodyPr wrap="square" rtlCol="0" anchor="ctr"/>
          <a:lstStyle/>
          <a:p>
            <a:pPr indent="0" marL="0">
              <a:buNone/>
            </a:pPr>
            <a:r>
              <a:rPr lang="en-US" sz="1500" b="1" dirty="0">
                <a:solidFill>
                  <a:srgbClr val="326CE5"/>
                </a:solidFill>
                <a:latin typeface="Trebuchet MS" pitchFamily="34" charset="0"/>
                <a:ea typeface="Trebuchet MS" pitchFamily="34" charset="-122"/>
                <a:cs typeface="Trebuchet MS" pitchFamily="34" charset="-120"/>
              </a:rPr>
              <a:t>Backend - Dockerfile</a:t>
            </a:r>
            <a:endParaRPr lang="en-US" sz="1500" dirty="0"/>
          </a:p>
        </p:txBody>
      </p:sp>
      <p:sp>
        <p:nvSpPr>
          <p:cNvPr id="9" name="Shape 6"/>
          <p:cNvSpPr/>
          <p:nvPr/>
        </p:nvSpPr>
        <p:spPr>
          <a:xfrm>
            <a:off x="777240" y="1874520"/>
            <a:ext cx="5029200" cy="2743200"/>
          </a:xfrm>
          <a:prstGeom prst="rect">
            <a:avLst/>
          </a:prstGeom>
          <a:solidFill>
            <a:srgbClr val="0B1F3A"/>
          </a:solidFill>
          <a:ln/>
        </p:spPr>
      </p:sp>
      <p:sp>
        <p:nvSpPr>
          <p:cNvPr id="10" name="Text 7"/>
          <p:cNvSpPr/>
          <p:nvPr/>
        </p:nvSpPr>
        <p:spPr>
          <a:xfrm>
            <a:off x="914400" y="2011680"/>
            <a:ext cx="4754880" cy="2468880"/>
          </a:xfrm>
          <a:prstGeom prst="rect">
            <a:avLst/>
          </a:prstGeom>
          <a:noFill/>
          <a:ln/>
        </p:spPr>
        <p:txBody>
          <a:bodyPr wrap="square" rtlCol="0" anchor="ctr"/>
          <a:lstStyle/>
          <a:p>
            <a:pPr indent="0" marL="0">
              <a:lnSpc>
                <a:spcPct val="115000"/>
              </a:lnSpc>
              <a:buNone/>
            </a:pPr>
            <a:r>
              <a:rPr lang="en-US" sz="1200" dirty="0">
                <a:solidFill>
                  <a:srgbClr val="9FE2FF"/>
                </a:solidFill>
                <a:latin typeface="Consolas" pitchFamily="34" charset="0"/>
                <a:ea typeface="Consolas" pitchFamily="34" charset="-122"/>
                <a:cs typeface="Consolas" pitchFamily="34" charset="-120"/>
              </a:rPr>
              <a:t>FROM node:20-alpine</a:t>
            </a:r>
            <a:endParaRPr lang="en-US" sz="1200" dirty="0"/>
          </a:p>
          <a:p>
            <a:pPr indent="0" marL="0">
              <a:lnSpc>
                <a:spcPct val="115000"/>
              </a:lnSpc>
              <a:buNone/>
            </a:pPr>
            <a:r>
              <a:rPr lang="en-US" sz="1200" dirty="0">
                <a:solidFill>
                  <a:srgbClr val="9FE2FF"/>
                </a:solidFill>
                <a:latin typeface="Consolas" pitchFamily="34" charset="0"/>
                <a:ea typeface="Consolas" pitchFamily="34" charset="-122"/>
                <a:cs typeface="Consolas" pitchFamily="34" charset="-120"/>
              </a:rPr>
              <a:t>WORKDIR /app</a:t>
            </a:r>
            <a:endParaRPr lang="en-US" sz="1200" dirty="0"/>
          </a:p>
          <a:p>
            <a:pPr indent="0" marL="0">
              <a:lnSpc>
                <a:spcPct val="115000"/>
              </a:lnSpc>
              <a:buNone/>
            </a:pPr>
            <a:r>
              <a:rPr lang="en-US" sz="1200" dirty="0">
                <a:solidFill>
                  <a:srgbClr val="9FE2FF"/>
                </a:solidFill>
                <a:latin typeface="Consolas" pitchFamily="34" charset="0"/>
                <a:ea typeface="Consolas" pitchFamily="34" charset="-122"/>
                <a:cs typeface="Consolas" pitchFamily="34" charset="-120"/>
              </a:rPr>
              <a:t>COPY package.json ./</a:t>
            </a:r>
            <a:endParaRPr lang="en-US" sz="1200" dirty="0"/>
          </a:p>
          <a:p>
            <a:pPr indent="0" marL="0">
              <a:lnSpc>
                <a:spcPct val="115000"/>
              </a:lnSpc>
              <a:buNone/>
            </a:pPr>
            <a:r>
              <a:rPr lang="en-US" sz="1200" dirty="0">
                <a:solidFill>
                  <a:srgbClr val="9FE2FF"/>
                </a:solidFill>
                <a:latin typeface="Consolas" pitchFamily="34" charset="0"/>
                <a:ea typeface="Consolas" pitchFamily="34" charset="-122"/>
                <a:cs typeface="Consolas" pitchFamily="34" charset="-120"/>
              </a:rPr>
              <a:t>RUN npm install --omit=dev</a:t>
            </a:r>
            <a:endParaRPr lang="en-US" sz="1200" dirty="0"/>
          </a:p>
          <a:p>
            <a:pPr indent="0" marL="0">
              <a:lnSpc>
                <a:spcPct val="115000"/>
              </a:lnSpc>
              <a:buNone/>
            </a:pPr>
            <a:r>
              <a:rPr lang="en-US" sz="1200" dirty="0">
                <a:solidFill>
                  <a:srgbClr val="9FE2FF"/>
                </a:solidFill>
                <a:latin typeface="Consolas" pitchFamily="34" charset="0"/>
                <a:ea typeface="Consolas" pitchFamily="34" charset="-122"/>
                <a:cs typeface="Consolas" pitchFamily="34" charset="-120"/>
              </a:rPr>
              <a:t>COPY server.js ./</a:t>
            </a:r>
            <a:endParaRPr lang="en-US" sz="1200" dirty="0"/>
          </a:p>
          <a:p>
            <a:pPr indent="0" marL="0">
              <a:lnSpc>
                <a:spcPct val="115000"/>
              </a:lnSpc>
              <a:buNone/>
            </a:pPr>
            <a:r>
              <a:rPr lang="en-US" sz="1200" dirty="0">
                <a:solidFill>
                  <a:srgbClr val="9FE2FF"/>
                </a:solidFill>
                <a:latin typeface="Consolas" pitchFamily="34" charset="0"/>
                <a:ea typeface="Consolas" pitchFamily="34" charset="-122"/>
                <a:cs typeface="Consolas" pitchFamily="34" charset="-120"/>
              </a:rPr>
              <a:t>EXPOSE 3000</a:t>
            </a:r>
            <a:endParaRPr lang="en-US" sz="1200" dirty="0"/>
          </a:p>
          <a:p>
            <a:pPr indent="0" marL="0">
              <a:lnSpc>
                <a:spcPct val="115000"/>
              </a:lnSpc>
              <a:buNone/>
            </a:pPr>
            <a:r>
              <a:rPr lang="en-US" sz="1200" dirty="0">
                <a:solidFill>
                  <a:srgbClr val="9FE2FF"/>
                </a:solidFill>
                <a:latin typeface="Consolas" pitchFamily="34" charset="0"/>
                <a:ea typeface="Consolas" pitchFamily="34" charset="-122"/>
                <a:cs typeface="Consolas" pitchFamily="34" charset="-120"/>
              </a:rPr>
              <a:t>CMD ["node", "server.js"]</a:t>
            </a:r>
            <a:endParaRPr lang="en-US" sz="1200" dirty="0"/>
          </a:p>
        </p:txBody>
      </p:sp>
      <p:sp>
        <p:nvSpPr>
          <p:cNvPr id="11" name="Shape 8"/>
          <p:cNvSpPr/>
          <p:nvPr/>
        </p:nvSpPr>
        <p:spPr>
          <a:xfrm>
            <a:off x="6172200" y="1371600"/>
            <a:ext cx="5440680" cy="33832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2" name="Text 9"/>
          <p:cNvSpPr/>
          <p:nvPr/>
        </p:nvSpPr>
        <p:spPr>
          <a:xfrm>
            <a:off x="6400800" y="1481328"/>
            <a:ext cx="5029200" cy="320040"/>
          </a:xfrm>
          <a:prstGeom prst="rect">
            <a:avLst/>
          </a:prstGeom>
          <a:noFill/>
          <a:ln/>
        </p:spPr>
        <p:txBody>
          <a:bodyPr wrap="square" rtlCol="0" anchor="ctr"/>
          <a:lstStyle/>
          <a:p>
            <a:pPr indent="0" marL="0">
              <a:buNone/>
            </a:pPr>
            <a:r>
              <a:rPr lang="en-US" sz="1500" b="1" dirty="0">
                <a:solidFill>
                  <a:srgbClr val="326CE5"/>
                </a:solidFill>
                <a:latin typeface="Trebuchet MS" pitchFamily="34" charset="0"/>
                <a:ea typeface="Trebuchet MS" pitchFamily="34" charset="-122"/>
                <a:cs typeface="Trebuchet MS" pitchFamily="34" charset="-120"/>
              </a:rPr>
              <a:t>Frontend - Multi-stage</a:t>
            </a:r>
            <a:endParaRPr lang="en-US" sz="1500" dirty="0"/>
          </a:p>
        </p:txBody>
      </p:sp>
      <p:sp>
        <p:nvSpPr>
          <p:cNvPr id="13" name="Shape 10"/>
          <p:cNvSpPr/>
          <p:nvPr/>
        </p:nvSpPr>
        <p:spPr>
          <a:xfrm>
            <a:off x="6400800" y="1874520"/>
            <a:ext cx="4983480" cy="2743200"/>
          </a:xfrm>
          <a:prstGeom prst="rect">
            <a:avLst/>
          </a:prstGeom>
          <a:solidFill>
            <a:srgbClr val="0B1F3A"/>
          </a:solidFill>
          <a:ln/>
        </p:spPr>
      </p:sp>
      <p:sp>
        <p:nvSpPr>
          <p:cNvPr id="14" name="Text 11"/>
          <p:cNvSpPr/>
          <p:nvPr/>
        </p:nvSpPr>
        <p:spPr>
          <a:xfrm>
            <a:off x="6537960" y="2011680"/>
            <a:ext cx="4709160" cy="2468880"/>
          </a:xfrm>
          <a:prstGeom prst="rect">
            <a:avLst/>
          </a:prstGeom>
          <a:noFill/>
          <a:ln/>
        </p:spPr>
        <p:txBody>
          <a:bodyPr wrap="square" rtlCol="0" anchor="ctr"/>
          <a:lstStyle/>
          <a:p>
            <a:pPr indent="0" marL="0">
              <a:lnSpc>
                <a:spcPct val="115000"/>
              </a:lnSpc>
              <a:buNone/>
            </a:pPr>
            <a:r>
              <a:rPr lang="en-US" sz="1150" dirty="0">
                <a:solidFill>
                  <a:srgbClr val="00B4D8"/>
                </a:solidFill>
                <a:latin typeface="Consolas" pitchFamily="34" charset="0"/>
                <a:ea typeface="Consolas" pitchFamily="34" charset="-122"/>
                <a:cs typeface="Consolas" pitchFamily="34" charset="-120"/>
              </a:rPr>
              <a:t># build</a:t>
            </a:r>
            <a:endParaRPr lang="en-US" sz="1150" dirty="0"/>
          </a:p>
          <a:p>
            <a:pPr indent="0" marL="0">
              <a:lnSpc>
                <a:spcPct val="115000"/>
              </a:lnSpc>
              <a:buNone/>
            </a:pPr>
            <a:r>
              <a:rPr lang="en-US" sz="1150" dirty="0">
                <a:solidFill>
                  <a:srgbClr val="9FE2FF"/>
                </a:solidFill>
                <a:latin typeface="Consolas" pitchFamily="34" charset="0"/>
                <a:ea typeface="Consolas" pitchFamily="34" charset="-122"/>
                <a:cs typeface="Consolas" pitchFamily="34" charset="-120"/>
              </a:rPr>
              <a:t>FROM node:20-alpine AS build</a:t>
            </a:r>
            <a:endParaRPr lang="en-US" sz="1150" dirty="0"/>
          </a:p>
          <a:p>
            <a:pPr indent="0" marL="0">
              <a:lnSpc>
                <a:spcPct val="115000"/>
              </a:lnSpc>
              <a:buNone/>
            </a:pPr>
            <a:r>
              <a:rPr lang="en-US" sz="1150" dirty="0">
                <a:solidFill>
                  <a:srgbClr val="9FE2FF"/>
                </a:solidFill>
                <a:latin typeface="Consolas" pitchFamily="34" charset="0"/>
                <a:ea typeface="Consolas" pitchFamily="34" charset="-122"/>
                <a:cs typeface="Consolas" pitchFamily="34" charset="-120"/>
              </a:rPr>
              <a:t>RUN npm install &amp;&amp; npm run build</a:t>
            </a:r>
            <a:endParaRPr lang="en-US" sz="1150" dirty="0"/>
          </a:p>
          <a:p>
            <a:pPr indent="0" marL="0">
              <a:lnSpc>
                <a:spcPct val="115000"/>
              </a:lnSpc>
              <a:buNone/>
            </a:pPr>
            <a:r>
              <a:rPr lang="en-US" sz="1150" dirty="0">
                <a:solidFill>
                  <a:srgbClr val="00B4D8"/>
                </a:solidFill>
                <a:latin typeface="Consolas" pitchFamily="34" charset="0"/>
                <a:ea typeface="Consolas" pitchFamily="34" charset="-122"/>
                <a:cs typeface="Consolas" pitchFamily="34" charset="-120"/>
              </a:rPr>
              <a:t># runtime</a:t>
            </a:r>
            <a:endParaRPr lang="en-US" sz="1150" dirty="0"/>
          </a:p>
          <a:p>
            <a:pPr indent="0" marL="0">
              <a:lnSpc>
                <a:spcPct val="115000"/>
              </a:lnSpc>
              <a:buNone/>
            </a:pPr>
            <a:r>
              <a:rPr lang="en-US" sz="1150" dirty="0">
                <a:solidFill>
                  <a:srgbClr val="9FE2FF"/>
                </a:solidFill>
                <a:latin typeface="Consolas" pitchFamily="34" charset="0"/>
                <a:ea typeface="Consolas" pitchFamily="34" charset="-122"/>
                <a:cs typeface="Consolas" pitchFamily="34" charset="-120"/>
              </a:rPr>
              <a:t>FROM nginx:1.27-alpine</a:t>
            </a:r>
            <a:endParaRPr lang="en-US" sz="1150" dirty="0"/>
          </a:p>
          <a:p>
            <a:pPr indent="0" marL="0">
              <a:lnSpc>
                <a:spcPct val="115000"/>
              </a:lnSpc>
              <a:buNone/>
            </a:pPr>
            <a:r>
              <a:rPr lang="en-US" sz="1150" dirty="0">
                <a:solidFill>
                  <a:srgbClr val="9FE2FF"/>
                </a:solidFill>
                <a:latin typeface="Consolas" pitchFamily="34" charset="0"/>
                <a:ea typeface="Consolas" pitchFamily="34" charset="-122"/>
                <a:cs typeface="Consolas" pitchFamily="34" charset="-120"/>
              </a:rPr>
              <a:t>COPY --from=build /app/dist  ...</a:t>
            </a:r>
            <a:endParaRPr lang="en-US" sz="1150" dirty="0"/>
          </a:p>
          <a:p>
            <a:pPr indent="0" marL="0">
              <a:lnSpc>
                <a:spcPct val="115000"/>
              </a:lnSpc>
              <a:buNone/>
            </a:pPr>
            <a:r>
              <a:rPr lang="en-US" sz="1150" dirty="0">
                <a:solidFill>
                  <a:srgbClr val="9FE2FF"/>
                </a:solidFill>
                <a:latin typeface="Consolas" pitchFamily="34" charset="0"/>
                <a:ea typeface="Consolas" pitchFamily="34" charset="-122"/>
                <a:cs typeface="Consolas" pitchFamily="34" charset="-120"/>
              </a:rPr>
              <a:t>COPY nginx.conf  ...</a:t>
            </a:r>
            <a:endParaRPr lang="en-US" sz="1150" dirty="0"/>
          </a:p>
        </p:txBody>
      </p:sp>
      <p:sp>
        <p:nvSpPr>
          <p:cNvPr id="15" name="Shape 12"/>
          <p:cNvSpPr/>
          <p:nvPr/>
        </p:nvSpPr>
        <p:spPr>
          <a:xfrm>
            <a:off x="548640" y="4983480"/>
            <a:ext cx="3520440" cy="10972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6" name="Text 13"/>
          <p:cNvSpPr/>
          <p:nvPr/>
        </p:nvSpPr>
        <p:spPr>
          <a:xfrm>
            <a:off x="548640" y="5120640"/>
            <a:ext cx="3520440" cy="502920"/>
          </a:xfrm>
          <a:prstGeom prst="rect">
            <a:avLst/>
          </a:prstGeom>
          <a:noFill/>
          <a:ln/>
        </p:spPr>
        <p:txBody>
          <a:bodyPr wrap="square" rtlCol="0" anchor="ctr"/>
          <a:lstStyle/>
          <a:p>
            <a:pPr algn="ctr" indent="0" marL="0">
              <a:buNone/>
            </a:pPr>
            <a:r>
              <a:rPr lang="en-US" sz="2200" b="1" dirty="0">
                <a:solidFill>
                  <a:srgbClr val="326CE5"/>
                </a:solidFill>
                <a:latin typeface="Trebuchet MS" pitchFamily="34" charset="0"/>
                <a:ea typeface="Trebuchet MS" pitchFamily="34" charset="-122"/>
                <a:cs typeface="Trebuchet MS" pitchFamily="34" charset="-120"/>
              </a:rPr>
              <a:t>57 MB</a:t>
            </a:r>
            <a:endParaRPr lang="en-US" sz="2200" dirty="0"/>
          </a:p>
        </p:txBody>
      </p:sp>
      <p:sp>
        <p:nvSpPr>
          <p:cNvPr id="17" name="Text 14"/>
          <p:cNvSpPr/>
          <p:nvPr/>
        </p:nvSpPr>
        <p:spPr>
          <a:xfrm>
            <a:off x="548640" y="5623560"/>
            <a:ext cx="3520440" cy="365760"/>
          </a:xfrm>
          <a:prstGeom prst="rect">
            <a:avLst/>
          </a:prstGeom>
          <a:noFill/>
          <a:ln/>
        </p:spPr>
        <p:txBody>
          <a:bodyPr wrap="square" rtlCol="0" anchor="ctr"/>
          <a:lstStyle/>
          <a:p>
            <a:pPr algn="ctr" indent="0" marL="0">
              <a:buNone/>
            </a:pPr>
            <a:r>
              <a:rPr lang="en-US" sz="1100" dirty="0">
                <a:solidFill>
                  <a:srgbClr val="5B6B7F"/>
                </a:solidFill>
                <a:latin typeface="Consolas" pitchFamily="34" charset="0"/>
                <a:ea typeface="Consolas" pitchFamily="34" charset="-122"/>
                <a:cs typeface="Consolas" pitchFamily="34" charset="-120"/>
              </a:rPr>
              <a:t>ecommerce-backend</a:t>
            </a:r>
            <a:endParaRPr lang="en-US" sz="1100" dirty="0"/>
          </a:p>
        </p:txBody>
      </p:sp>
      <p:sp>
        <p:nvSpPr>
          <p:cNvPr id="18" name="Shape 15"/>
          <p:cNvSpPr/>
          <p:nvPr/>
        </p:nvSpPr>
        <p:spPr>
          <a:xfrm>
            <a:off x="4315968" y="4983480"/>
            <a:ext cx="3520440" cy="10972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9" name="Text 16"/>
          <p:cNvSpPr/>
          <p:nvPr/>
        </p:nvSpPr>
        <p:spPr>
          <a:xfrm>
            <a:off x="4315968" y="5120640"/>
            <a:ext cx="3520440" cy="502920"/>
          </a:xfrm>
          <a:prstGeom prst="rect">
            <a:avLst/>
          </a:prstGeom>
          <a:noFill/>
          <a:ln/>
        </p:spPr>
        <p:txBody>
          <a:bodyPr wrap="square" rtlCol="0" anchor="ctr"/>
          <a:lstStyle/>
          <a:p>
            <a:pPr algn="ctr" indent="0" marL="0">
              <a:buNone/>
            </a:pPr>
            <a:r>
              <a:rPr lang="en-US" sz="2200" b="1" dirty="0">
                <a:solidFill>
                  <a:srgbClr val="326CE5"/>
                </a:solidFill>
                <a:latin typeface="Trebuchet MS" pitchFamily="34" charset="0"/>
                <a:ea typeface="Trebuchet MS" pitchFamily="34" charset="-122"/>
                <a:cs typeface="Trebuchet MS" pitchFamily="34" charset="-120"/>
              </a:rPr>
              <a:t>21 MB</a:t>
            </a:r>
            <a:endParaRPr lang="en-US" sz="2200" dirty="0"/>
          </a:p>
        </p:txBody>
      </p:sp>
      <p:sp>
        <p:nvSpPr>
          <p:cNvPr id="20" name="Text 17"/>
          <p:cNvSpPr/>
          <p:nvPr/>
        </p:nvSpPr>
        <p:spPr>
          <a:xfrm>
            <a:off x="4315968" y="5623560"/>
            <a:ext cx="3520440" cy="365760"/>
          </a:xfrm>
          <a:prstGeom prst="rect">
            <a:avLst/>
          </a:prstGeom>
          <a:noFill/>
          <a:ln/>
        </p:spPr>
        <p:txBody>
          <a:bodyPr wrap="square" rtlCol="0" anchor="ctr"/>
          <a:lstStyle/>
          <a:p>
            <a:pPr algn="ctr" indent="0" marL="0">
              <a:buNone/>
            </a:pPr>
            <a:r>
              <a:rPr lang="en-US" sz="1100" dirty="0">
                <a:solidFill>
                  <a:srgbClr val="5B6B7F"/>
                </a:solidFill>
                <a:latin typeface="Consolas" pitchFamily="34" charset="0"/>
                <a:ea typeface="Consolas" pitchFamily="34" charset="-122"/>
                <a:cs typeface="Consolas" pitchFamily="34" charset="-120"/>
              </a:rPr>
              <a:t>ecommerce-frontend</a:t>
            </a:r>
            <a:endParaRPr lang="en-US" sz="1100" dirty="0"/>
          </a:p>
        </p:txBody>
      </p:sp>
      <p:sp>
        <p:nvSpPr>
          <p:cNvPr id="21" name="Shape 18"/>
          <p:cNvSpPr/>
          <p:nvPr/>
        </p:nvSpPr>
        <p:spPr>
          <a:xfrm>
            <a:off x="8083296" y="4983480"/>
            <a:ext cx="3520440" cy="10972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22" name="Text 19"/>
          <p:cNvSpPr/>
          <p:nvPr/>
        </p:nvSpPr>
        <p:spPr>
          <a:xfrm>
            <a:off x="8083296" y="5120640"/>
            <a:ext cx="3520440" cy="502920"/>
          </a:xfrm>
          <a:prstGeom prst="rect">
            <a:avLst/>
          </a:prstGeom>
          <a:noFill/>
          <a:ln/>
        </p:spPr>
        <p:txBody>
          <a:bodyPr wrap="square" rtlCol="0" anchor="ctr"/>
          <a:lstStyle/>
          <a:p>
            <a:pPr algn="ctr" indent="0" marL="0">
              <a:buNone/>
            </a:pPr>
            <a:r>
              <a:rPr lang="en-US" sz="2200" b="1" dirty="0">
                <a:solidFill>
                  <a:srgbClr val="326CE5"/>
                </a:solidFill>
                <a:latin typeface="Trebuchet MS" pitchFamily="34" charset="0"/>
                <a:ea typeface="Trebuchet MS" pitchFamily="34" charset="-122"/>
                <a:cs typeface="Trebuchet MS" pitchFamily="34" charset="-120"/>
              </a:rPr>
              <a:t>-90% taille</a:t>
            </a:r>
            <a:endParaRPr lang="en-US" sz="2200" dirty="0"/>
          </a:p>
        </p:txBody>
      </p:sp>
      <p:sp>
        <p:nvSpPr>
          <p:cNvPr id="23" name="Text 20"/>
          <p:cNvSpPr/>
          <p:nvPr/>
        </p:nvSpPr>
        <p:spPr>
          <a:xfrm>
            <a:off x="8083296" y="5623560"/>
            <a:ext cx="3520440" cy="365760"/>
          </a:xfrm>
          <a:prstGeom prst="rect">
            <a:avLst/>
          </a:prstGeom>
          <a:noFill/>
          <a:ln/>
        </p:spPr>
        <p:txBody>
          <a:bodyPr wrap="square" rtlCol="0" anchor="ctr"/>
          <a:lstStyle/>
          <a:p>
            <a:pPr algn="ctr" indent="0" marL="0">
              <a:buNone/>
            </a:pPr>
            <a:r>
              <a:rPr lang="en-US" sz="1100" dirty="0">
                <a:solidFill>
                  <a:srgbClr val="5B6B7F"/>
                </a:solidFill>
                <a:latin typeface="Consolas" pitchFamily="34" charset="0"/>
                <a:ea typeface="Consolas" pitchFamily="34" charset="-122"/>
                <a:cs typeface="Consolas" pitchFamily="34" charset="-120"/>
              </a:rPr>
              <a:t>multi-stage</a:t>
            </a:r>
            <a:endParaRPr lang="en-US" sz="1100" dirty="0"/>
          </a:p>
        </p:txBody>
      </p:sp>
      <p:sp>
        <p:nvSpPr>
          <p:cNvPr id="24" name="Text 21"/>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25" name="Text 22"/>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ORCHESTRATION</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Le cluster Kubernetes (kind)</a:t>
            </a:r>
            <a:endParaRPr lang="en-US" sz="2600" dirty="0"/>
          </a:p>
        </p:txBody>
      </p:sp>
      <p:sp>
        <p:nvSpPr>
          <p:cNvPr id="7" name="Shape 4"/>
          <p:cNvSpPr/>
          <p:nvPr/>
        </p:nvSpPr>
        <p:spPr>
          <a:xfrm>
            <a:off x="548640" y="1371600"/>
            <a:ext cx="5486400" cy="228600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Text 5"/>
          <p:cNvSpPr/>
          <p:nvPr/>
        </p:nvSpPr>
        <p:spPr>
          <a:xfrm>
            <a:off x="777240" y="1481328"/>
            <a:ext cx="5029200" cy="320040"/>
          </a:xfrm>
          <a:prstGeom prst="rect">
            <a:avLst/>
          </a:prstGeom>
          <a:noFill/>
          <a:ln/>
        </p:spPr>
        <p:txBody>
          <a:bodyPr wrap="square" rtlCol="0" anchor="ctr"/>
          <a:lstStyle/>
          <a:p>
            <a:pPr indent="0" marL="0">
              <a:buNone/>
            </a:pPr>
            <a:r>
              <a:rPr lang="en-US" sz="1500" b="1" dirty="0">
                <a:solidFill>
                  <a:srgbClr val="326CE5"/>
                </a:solidFill>
                <a:latin typeface="Trebuchet MS" pitchFamily="34" charset="0"/>
                <a:ea typeface="Trebuchet MS" pitchFamily="34" charset="-122"/>
                <a:cs typeface="Trebuchet MS" pitchFamily="34" charset="-120"/>
              </a:rPr>
              <a:t>Creation du cluster</a:t>
            </a:r>
            <a:endParaRPr lang="en-US" sz="1500" dirty="0"/>
          </a:p>
        </p:txBody>
      </p:sp>
      <p:sp>
        <p:nvSpPr>
          <p:cNvPr id="9" name="Shape 6"/>
          <p:cNvSpPr/>
          <p:nvPr/>
        </p:nvSpPr>
        <p:spPr>
          <a:xfrm>
            <a:off x="777240" y="1874520"/>
            <a:ext cx="5029200" cy="960120"/>
          </a:xfrm>
          <a:prstGeom prst="rect">
            <a:avLst/>
          </a:prstGeom>
          <a:solidFill>
            <a:srgbClr val="0B1F3A"/>
          </a:solidFill>
          <a:ln/>
        </p:spPr>
      </p:sp>
      <p:sp>
        <p:nvSpPr>
          <p:cNvPr id="10" name="Text 7"/>
          <p:cNvSpPr/>
          <p:nvPr/>
        </p:nvSpPr>
        <p:spPr>
          <a:xfrm>
            <a:off x="914400" y="1993392"/>
            <a:ext cx="4754880" cy="731520"/>
          </a:xfrm>
          <a:prstGeom prst="rect">
            <a:avLst/>
          </a:prstGeom>
          <a:noFill/>
          <a:ln/>
        </p:spPr>
        <p:txBody>
          <a:bodyPr wrap="square" rtlCol="0" anchor="ctr"/>
          <a:lstStyle/>
          <a:p>
            <a:pPr indent="0" marL="0">
              <a:buNone/>
            </a:pPr>
            <a:r>
              <a:rPr lang="en-US" sz="1250" dirty="0">
                <a:solidFill>
                  <a:srgbClr val="9FE2FF"/>
                </a:solidFill>
                <a:latin typeface="Consolas" pitchFamily="34" charset="0"/>
                <a:ea typeface="Consolas" pitchFamily="34" charset="-122"/>
                <a:cs typeface="Consolas" pitchFamily="34" charset="-120"/>
              </a:rPr>
              <a:t>$ kind create cluster \</a:t>
            </a:r>
            <a:endParaRPr lang="en-US" sz="1250" dirty="0"/>
          </a:p>
          <a:p>
            <a:pPr indent="0" marL="0">
              <a:buNone/>
            </a:pPr>
            <a:r>
              <a:rPr lang="en-US" sz="1250" dirty="0">
                <a:solidFill>
                  <a:srgbClr val="9FE2FF"/>
                </a:solidFill>
                <a:latin typeface="Consolas" pitchFamily="34" charset="0"/>
                <a:ea typeface="Consolas" pitchFamily="34" charset="-122"/>
                <a:cs typeface="Consolas" pitchFamily="34" charset="-120"/>
              </a:rPr>
              <a:t>    --config kind-config.yaml</a:t>
            </a:r>
            <a:endParaRPr lang="en-US" sz="1250" dirty="0"/>
          </a:p>
        </p:txBody>
      </p:sp>
      <p:sp>
        <p:nvSpPr>
          <p:cNvPr id="11" name="Text 8"/>
          <p:cNvSpPr/>
          <p:nvPr/>
        </p:nvSpPr>
        <p:spPr>
          <a:xfrm>
            <a:off x="868680" y="2926080"/>
            <a:ext cx="4937760" cy="640080"/>
          </a:xfrm>
          <a:prstGeom prst="rect">
            <a:avLst/>
          </a:prstGeom>
          <a:noFill/>
          <a:ln/>
        </p:spPr>
        <p:txBody>
          <a:bodyPr wrap="square" rtlCol="0" anchor="ctr"/>
          <a:lstStyle/>
          <a:p>
            <a:pPr marL="342900" indent="-342900">
              <a:spcAft>
                <a:spcPts val="400"/>
              </a:spcAft>
              <a:buSzPct val="100000"/>
              <a:buChar char="•"/>
            </a:pPr>
            <a:r>
              <a:rPr lang="en-US" sz="1200" dirty="0">
                <a:solidFill>
                  <a:srgbClr val="1A2233"/>
                </a:solidFill>
                <a:latin typeface="Calibri" pitchFamily="34" charset="0"/>
                <a:ea typeface="Calibri" pitchFamily="34" charset="-122"/>
                <a:cs typeface="Calibri" pitchFamily="34" charset="-120"/>
              </a:rPr>
              <a:t>Kubernetes-in-Docker : le noeud est un conteneur.</a:t>
            </a:r>
            <a:endParaRPr lang="en-US" sz="1200" dirty="0"/>
          </a:p>
          <a:p>
            <a:pPr marL="342900" indent="-342900">
              <a:spcAft>
                <a:spcPts val="400"/>
              </a:spcAft>
              <a:buSzPct val="100000"/>
              <a:buChar char="•"/>
            </a:pPr>
            <a:r>
              <a:rPr lang="en-US" sz="1200" dirty="0">
                <a:solidFill>
                  <a:srgbClr val="1A2233"/>
                </a:solidFill>
                <a:latin typeface="Calibri" pitchFamily="34" charset="0"/>
                <a:ea typeface="Calibri" pitchFamily="34" charset="-122"/>
                <a:cs typeface="Calibri" pitchFamily="34" charset="-120"/>
              </a:rPr>
              <a:t>Mapping NodePort -&gt; localhost (30080 / 30090 / 30030).</a:t>
            </a:r>
            <a:endParaRPr lang="en-US" sz="1200" dirty="0"/>
          </a:p>
        </p:txBody>
      </p:sp>
      <p:sp>
        <p:nvSpPr>
          <p:cNvPr id="12" name="Shape 9"/>
          <p:cNvSpPr/>
          <p:nvPr/>
        </p:nvSpPr>
        <p:spPr>
          <a:xfrm>
            <a:off x="6172200" y="1371600"/>
            <a:ext cx="5440680" cy="228600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3" name="Text 10"/>
          <p:cNvSpPr/>
          <p:nvPr/>
        </p:nvSpPr>
        <p:spPr>
          <a:xfrm>
            <a:off x="6400800" y="1481328"/>
            <a:ext cx="5029200" cy="320040"/>
          </a:xfrm>
          <a:prstGeom prst="rect">
            <a:avLst/>
          </a:prstGeom>
          <a:noFill/>
          <a:ln/>
        </p:spPr>
        <p:txBody>
          <a:bodyPr wrap="square" rtlCol="0" anchor="ctr"/>
          <a:lstStyle/>
          <a:p>
            <a:pPr indent="0" marL="0">
              <a:buNone/>
            </a:pPr>
            <a:r>
              <a:rPr lang="en-US" sz="1500" b="1" dirty="0">
                <a:solidFill>
                  <a:srgbClr val="326CE5"/>
                </a:solidFill>
                <a:latin typeface="Trebuchet MS" pitchFamily="34" charset="0"/>
                <a:ea typeface="Trebuchet MS" pitchFamily="34" charset="-122"/>
                <a:cs typeface="Trebuchet MS" pitchFamily="34" charset="-120"/>
              </a:rPr>
              <a:t>kubectl get nodes</a:t>
            </a:r>
            <a:endParaRPr lang="en-US" sz="1500" dirty="0"/>
          </a:p>
        </p:txBody>
      </p:sp>
      <p:sp>
        <p:nvSpPr>
          <p:cNvPr id="14" name="Shape 11"/>
          <p:cNvSpPr/>
          <p:nvPr/>
        </p:nvSpPr>
        <p:spPr>
          <a:xfrm>
            <a:off x="6400800" y="1874520"/>
            <a:ext cx="4983480" cy="1600200"/>
          </a:xfrm>
          <a:prstGeom prst="rect">
            <a:avLst/>
          </a:prstGeom>
          <a:solidFill>
            <a:srgbClr val="101826"/>
          </a:solidFill>
          <a:ln/>
        </p:spPr>
      </p:sp>
      <p:sp>
        <p:nvSpPr>
          <p:cNvPr id="15" name="Text 12"/>
          <p:cNvSpPr/>
          <p:nvPr/>
        </p:nvSpPr>
        <p:spPr>
          <a:xfrm>
            <a:off x="6537960" y="2011680"/>
            <a:ext cx="4709160" cy="1325880"/>
          </a:xfrm>
          <a:prstGeom prst="rect">
            <a:avLst/>
          </a:prstGeom>
          <a:noFill/>
          <a:ln/>
        </p:spPr>
        <p:txBody>
          <a:bodyPr wrap="square" rtlCol="0" anchor="ctr"/>
          <a:lstStyle/>
          <a:p>
            <a:pPr indent="0" marL="0">
              <a:buNone/>
            </a:pPr>
            <a:r>
              <a:rPr lang="en-US" sz="1050" dirty="0">
                <a:solidFill>
                  <a:srgbClr val="C8D6E5"/>
                </a:solidFill>
                <a:latin typeface="Consolas" pitchFamily="34" charset="0"/>
                <a:ea typeface="Consolas" pitchFamily="34" charset="-122"/>
                <a:cs typeface="Consolas" pitchFamily="34" charset="-120"/>
              </a:rPr>
              <a:t>NAME                      STATUS  ROLES</a:t>
            </a:r>
            <a:endParaRPr lang="en-US" sz="1050" dirty="0"/>
          </a:p>
          <a:p>
            <a:pPr indent="0" marL="0">
              <a:buNone/>
            </a:pPr>
            <a:r>
              <a:rPr lang="en-US" sz="1050" dirty="0">
                <a:solidFill>
                  <a:srgbClr val="16A34A"/>
                </a:solidFill>
                <a:latin typeface="Consolas" pitchFamily="34" charset="0"/>
                <a:ea typeface="Consolas" pitchFamily="34" charset="-122"/>
                <a:cs typeface="Consolas" pitchFamily="34" charset="-120"/>
              </a:rPr>
              <a:t>ecommerce-control-plane   Ready   control-plane</a:t>
            </a:r>
            <a:endParaRPr lang="en-US" sz="1050" dirty="0"/>
          </a:p>
          <a:p>
            <a:pPr indent="0" marL="0">
              <a:buNone/>
            </a:pPr>
            <a:endParaRPr lang="en-US" sz="1050" dirty="0"/>
          </a:p>
          <a:p>
            <a:pPr indent="0" marL="0">
              <a:buNone/>
            </a:pPr>
            <a:r>
              <a:rPr lang="en-US" sz="1050" dirty="0">
                <a:solidFill>
                  <a:srgbClr val="00B4D8"/>
                </a:solidFill>
                <a:latin typeface="Consolas" pitchFamily="34" charset="0"/>
                <a:ea typeface="Consolas" pitchFamily="34" charset="-122"/>
                <a:cs typeface="Consolas" pitchFamily="34" charset="-120"/>
              </a:rPr>
              <a:t>v1.32.2  |  label tier=storage</a:t>
            </a:r>
            <a:endParaRPr lang="en-US" sz="1050" dirty="0"/>
          </a:p>
        </p:txBody>
      </p:sp>
      <p:sp>
        <p:nvSpPr>
          <p:cNvPr id="16" name="Shape 13"/>
          <p:cNvSpPr/>
          <p:nvPr/>
        </p:nvSpPr>
        <p:spPr>
          <a:xfrm>
            <a:off x="548640" y="3886200"/>
            <a:ext cx="11064240" cy="2240280"/>
          </a:xfrm>
          <a:prstGeom prst="rect">
            <a:avLst/>
          </a:prstGeom>
          <a:solidFill>
            <a:srgbClr val="0B1F3A"/>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7" name="Text 14"/>
          <p:cNvSpPr/>
          <p:nvPr/>
        </p:nvSpPr>
        <p:spPr>
          <a:xfrm>
            <a:off x="777240" y="4005072"/>
            <a:ext cx="10607040" cy="320040"/>
          </a:xfrm>
          <a:prstGeom prst="rect">
            <a:avLst/>
          </a:prstGeom>
          <a:noFill/>
          <a:ln/>
        </p:spPr>
        <p:txBody>
          <a:bodyPr wrap="square" rtlCol="0" anchor="ctr"/>
          <a:lstStyle/>
          <a:p>
            <a:pPr indent="0" marL="0">
              <a:buNone/>
            </a:pPr>
            <a:r>
              <a:rPr lang="en-US" sz="1400" b="1" dirty="0">
                <a:solidFill>
                  <a:srgbClr val="00B4D8"/>
                </a:solidFill>
                <a:latin typeface="Trebuchet MS" pitchFamily="34" charset="0"/>
                <a:ea typeface="Trebuchet MS" pitchFamily="34" charset="-122"/>
                <a:cs typeface="Trebuchet MS" pitchFamily="34" charset="-120"/>
              </a:rPr>
              <a:t>Image locale -&gt; cluster (sans registry)</a:t>
            </a:r>
            <a:endParaRPr lang="en-US" sz="1400" dirty="0"/>
          </a:p>
        </p:txBody>
      </p:sp>
      <p:sp>
        <p:nvSpPr>
          <p:cNvPr id="18" name="Shape 15"/>
          <p:cNvSpPr/>
          <p:nvPr/>
        </p:nvSpPr>
        <p:spPr>
          <a:xfrm>
            <a:off x="777240" y="4389120"/>
            <a:ext cx="10607040" cy="868680"/>
          </a:xfrm>
          <a:prstGeom prst="rect">
            <a:avLst/>
          </a:prstGeom>
          <a:solidFill>
            <a:srgbClr val="081427"/>
          </a:solidFill>
          <a:ln/>
        </p:spPr>
      </p:sp>
      <p:sp>
        <p:nvSpPr>
          <p:cNvPr id="19" name="Text 16"/>
          <p:cNvSpPr/>
          <p:nvPr/>
        </p:nvSpPr>
        <p:spPr>
          <a:xfrm>
            <a:off x="914400" y="4480560"/>
            <a:ext cx="10332720" cy="731520"/>
          </a:xfrm>
          <a:prstGeom prst="rect">
            <a:avLst/>
          </a:prstGeom>
          <a:noFill/>
          <a:ln/>
        </p:spPr>
        <p:txBody>
          <a:bodyPr wrap="square" rtlCol="0" anchor="ctr"/>
          <a:lstStyle/>
          <a:p>
            <a:pPr indent="0" marL="0">
              <a:buNone/>
            </a:pPr>
            <a:r>
              <a:rPr lang="en-US" sz="1250" dirty="0">
                <a:solidFill>
                  <a:srgbClr val="9FE2FF"/>
                </a:solidFill>
                <a:latin typeface="Consolas" pitchFamily="34" charset="0"/>
                <a:ea typeface="Consolas" pitchFamily="34" charset="-122"/>
                <a:cs typeface="Consolas" pitchFamily="34" charset="-120"/>
              </a:rPr>
              <a:t>$ docker build -t ecommerce-backend:1.0 ./backend</a:t>
            </a:r>
            <a:endParaRPr lang="en-US" sz="1250" dirty="0"/>
          </a:p>
          <a:p>
            <a:pPr indent="0" marL="0">
              <a:buNone/>
            </a:pPr>
            <a:r>
              <a:rPr lang="en-US" sz="1250" dirty="0">
                <a:solidFill>
                  <a:srgbClr val="9FE2FF"/>
                </a:solidFill>
                <a:latin typeface="Consolas" pitchFamily="34" charset="0"/>
                <a:ea typeface="Consolas" pitchFamily="34" charset="-122"/>
                <a:cs typeface="Consolas" pitchFamily="34" charset="-120"/>
              </a:rPr>
              <a:t>$ kind load docker-image ecommerce-backend:1.0 --name ecommerce</a:t>
            </a:r>
            <a:endParaRPr lang="en-US" sz="1250" dirty="0"/>
          </a:p>
        </p:txBody>
      </p:sp>
      <p:sp>
        <p:nvSpPr>
          <p:cNvPr id="20" name="Text 17"/>
          <p:cNvSpPr/>
          <p:nvPr/>
        </p:nvSpPr>
        <p:spPr>
          <a:xfrm>
            <a:off x="777240" y="5440680"/>
            <a:ext cx="10607040" cy="457200"/>
          </a:xfrm>
          <a:prstGeom prst="rect">
            <a:avLst/>
          </a:prstGeom>
          <a:noFill/>
          <a:ln/>
        </p:spPr>
        <p:txBody>
          <a:bodyPr wrap="square" rtlCol="0" anchor="ctr"/>
          <a:lstStyle/>
          <a:p>
            <a:pPr indent="0" marL="0">
              <a:buNone/>
            </a:pPr>
            <a:r>
              <a:rPr lang="en-US" sz="1250" i="1" dirty="0">
                <a:solidFill>
                  <a:srgbClr val="CADCFC"/>
                </a:solidFill>
                <a:latin typeface="Calibri" pitchFamily="34" charset="0"/>
                <a:ea typeface="Calibri" pitchFamily="34" charset="-122"/>
                <a:cs typeface="Calibri" pitchFamily="34" charset="-120"/>
              </a:rPr>
              <a:t>imagePullPolicy: IfNotPresent  -&gt;  pas de pull externe, demarrage instantane.</a:t>
            </a:r>
            <a:endParaRPr lang="en-US" sz="1250" dirty="0"/>
          </a:p>
        </p:txBody>
      </p:sp>
      <p:sp>
        <p:nvSpPr>
          <p:cNvPr id="21" name="Text 18"/>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22" name="Text 19"/>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WORKLOADS</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Pods, Deployments &amp; sondes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2651760"/>
                <a:gridCol w="1097280"/>
                <a:gridCol w="2103120"/>
                <a:gridCol w="32004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Deployment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Conteneurs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Replicas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Strategie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Sondes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r>
              <a:tr h="640080">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frontend</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nginx (React)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RollingUpdate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liveness + readiness /healthz</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r h="640080">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backend-db</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backend + mongo</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Recreate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http /api/health + mongosh ping</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r h="640080">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monitoring</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prometheus + grafana</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RollingUpdate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algn="l" indent="0" marL="0">
                        <a:buNone/>
                      </a:pPr>
                      <a:r>
                        <a:rPr lang="en-US" sz="1200" dirty="0">
                          <a:solidFill>
                            <a:srgbClr val="1A2233"/>
                          </a:solidFill>
                          <a:latin typeface="Calibri" pitchFamily="34" charset="0"/>
                          <a:ea typeface="Calibri" pitchFamily="34" charset="-122"/>
                          <a:cs typeface="Calibri" pitchFamily="34" charset="-120"/>
                        </a:rPr>
                        <a:t>readiness /-/ready + /api/health</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bl>
          </a:graphicData>
        </a:graphic>
      </p:graphicFrame>
      <p:sp>
        <p:nvSpPr>
          <p:cNvPr id="8" name="Shape 4"/>
          <p:cNvSpPr/>
          <p:nvPr/>
        </p:nvSpPr>
        <p:spPr>
          <a:xfrm>
            <a:off x="548640" y="4114800"/>
            <a:ext cx="5394960" cy="20116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9" name="Text 5"/>
          <p:cNvSpPr/>
          <p:nvPr/>
        </p:nvSpPr>
        <p:spPr>
          <a:xfrm>
            <a:off x="777240" y="4224528"/>
            <a:ext cx="4937760" cy="320040"/>
          </a:xfrm>
          <a:prstGeom prst="rect">
            <a:avLst/>
          </a:prstGeom>
          <a:noFill/>
          <a:ln/>
        </p:spPr>
        <p:txBody>
          <a:bodyPr wrap="square" rtlCol="0" anchor="ctr"/>
          <a:lstStyle/>
          <a:p>
            <a:pPr indent="0" marL="0">
              <a:buNone/>
            </a:pPr>
            <a:r>
              <a:rPr lang="en-US" sz="1400" b="1" dirty="0">
                <a:solidFill>
                  <a:srgbClr val="326CE5"/>
                </a:solidFill>
                <a:latin typeface="Trebuchet MS" pitchFamily="34" charset="0"/>
                <a:ea typeface="Trebuchet MS" pitchFamily="34" charset="-122"/>
                <a:cs typeface="Trebuchet MS" pitchFamily="34" charset="-120"/>
              </a:rPr>
              <a:t>Bonnes pratiques appliquees</a:t>
            </a:r>
            <a:endParaRPr lang="en-US" sz="1400" dirty="0"/>
          </a:p>
        </p:txBody>
      </p:sp>
      <p:sp>
        <p:nvSpPr>
          <p:cNvPr id="10" name="Text 6"/>
          <p:cNvSpPr/>
          <p:nvPr/>
        </p:nvSpPr>
        <p:spPr>
          <a:xfrm>
            <a:off x="868680" y="4572000"/>
            <a:ext cx="4937760" cy="1417320"/>
          </a:xfrm>
          <a:prstGeom prst="rect">
            <a:avLst/>
          </a:prstGeom>
          <a:noFill/>
          <a:ln/>
        </p:spPr>
        <p:txBody>
          <a:bodyPr wrap="square" rtlCol="0" anchor="ctr"/>
          <a:lstStyle/>
          <a:p>
            <a:pPr marL="342900" indent="-342900">
              <a:spcAft>
                <a:spcPts val="700"/>
              </a:spcAft>
              <a:buSzPct val="100000"/>
              <a:buChar char="•"/>
            </a:pPr>
            <a:r>
              <a:rPr lang="en-US" sz="1200" dirty="0">
                <a:solidFill>
                  <a:srgbClr val="1A2233"/>
                </a:solidFill>
                <a:latin typeface="Calibri" pitchFamily="34" charset="0"/>
                <a:ea typeface="Calibri" pitchFamily="34" charset="-122"/>
                <a:cs typeface="Calibri" pitchFamily="34" charset="-120"/>
              </a:rPr>
              <a:t>requests / limits CPU &amp; memoire sur chaque conteneur</a:t>
            </a:r>
            <a:endParaRPr lang="en-US" sz="1200" dirty="0"/>
          </a:p>
          <a:p>
            <a:pPr marL="342900" indent="-342900">
              <a:spcAft>
                <a:spcPts val="700"/>
              </a:spcAft>
              <a:buSzPct val="100000"/>
              <a:buChar char="•"/>
            </a:pPr>
            <a:r>
              <a:rPr lang="en-US" sz="1200" dirty="0">
                <a:solidFill>
                  <a:srgbClr val="1A2233"/>
                </a:solidFill>
                <a:latin typeface="Calibri" pitchFamily="34" charset="0"/>
                <a:ea typeface="Calibri" pitchFamily="34" charset="-122"/>
                <a:cs typeface="Calibri" pitchFamily="34" charset="-120"/>
              </a:rPr>
              <a:t>Sondes liveness + readiness (auto-healing)</a:t>
            </a:r>
            <a:endParaRPr lang="en-US" sz="1200" dirty="0"/>
          </a:p>
          <a:p>
            <a:pPr marL="342900" indent="-342900">
              <a:spcAft>
                <a:spcPts val="700"/>
              </a:spcAft>
              <a:buSzPct val="100000"/>
              <a:buChar char="•"/>
            </a:pPr>
            <a:r>
              <a:rPr lang="en-US" sz="1200" dirty="0">
                <a:solidFill>
                  <a:srgbClr val="1A2233"/>
                </a:solidFill>
                <a:latin typeface="Calibri" pitchFamily="34" charset="0"/>
                <a:ea typeface="Calibri" pitchFamily="34" charset="-122"/>
                <a:cs typeface="Calibri" pitchFamily="34" charset="-120"/>
              </a:rPr>
              <a:t>Labels coherents (app, tier) pour le routage des Services</a:t>
            </a:r>
            <a:endParaRPr lang="en-US" sz="1200" dirty="0"/>
          </a:p>
        </p:txBody>
      </p:sp>
      <p:sp>
        <p:nvSpPr>
          <p:cNvPr id="11" name="Shape 7"/>
          <p:cNvSpPr/>
          <p:nvPr/>
        </p:nvSpPr>
        <p:spPr>
          <a:xfrm>
            <a:off x="6080760" y="4114800"/>
            <a:ext cx="5532120" cy="20116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2" name="Text 8"/>
          <p:cNvSpPr/>
          <p:nvPr/>
        </p:nvSpPr>
        <p:spPr>
          <a:xfrm>
            <a:off x="6309360" y="4224528"/>
            <a:ext cx="5029200" cy="320040"/>
          </a:xfrm>
          <a:prstGeom prst="rect">
            <a:avLst/>
          </a:prstGeom>
          <a:noFill/>
          <a:ln/>
        </p:spPr>
        <p:txBody>
          <a:bodyPr wrap="square" rtlCol="0" anchor="ctr"/>
          <a:lstStyle/>
          <a:p>
            <a:pPr indent="0" marL="0">
              <a:buNone/>
            </a:pPr>
            <a:r>
              <a:rPr lang="en-US" sz="1400" b="1" dirty="0">
                <a:solidFill>
                  <a:srgbClr val="326CE5"/>
                </a:solidFill>
                <a:latin typeface="Trebuchet MS" pitchFamily="34" charset="0"/>
                <a:ea typeface="Trebuchet MS" pitchFamily="34" charset="-122"/>
                <a:cs typeface="Trebuchet MS" pitchFamily="34" charset="-120"/>
              </a:rPr>
              <a:t>Pourquoi Recreate sur Pod 2 ?</a:t>
            </a:r>
            <a:endParaRPr lang="en-US" sz="1400" dirty="0"/>
          </a:p>
        </p:txBody>
      </p:sp>
      <p:sp>
        <p:nvSpPr>
          <p:cNvPr id="13" name="Text 9"/>
          <p:cNvSpPr/>
          <p:nvPr/>
        </p:nvSpPr>
        <p:spPr>
          <a:xfrm>
            <a:off x="6400800" y="4572000"/>
            <a:ext cx="5029200" cy="1417320"/>
          </a:xfrm>
          <a:prstGeom prst="rect">
            <a:avLst/>
          </a:prstGeom>
          <a:noFill/>
          <a:ln/>
        </p:spPr>
        <p:txBody>
          <a:bodyPr wrap="square" rtlCol="0" anchor="ctr"/>
          <a:lstStyle/>
          <a:p>
            <a:pPr marL="342900" indent="-342900">
              <a:spcAft>
                <a:spcPts val="700"/>
              </a:spcAft>
              <a:buSzPct val="100000"/>
              <a:buChar char="•"/>
            </a:pPr>
            <a:r>
              <a:rPr lang="en-US" sz="1200" dirty="0">
                <a:solidFill>
                  <a:srgbClr val="1A2233"/>
                </a:solidFill>
                <a:latin typeface="Calibri" pitchFamily="34" charset="0"/>
                <a:ea typeface="Calibri" pitchFamily="34" charset="-122"/>
                <a:cs typeface="Calibri" pitchFamily="34" charset="-120"/>
              </a:rPr>
              <a:t>Le volume MongoDB est en ReadWriteOnce.</a:t>
            </a:r>
            <a:endParaRPr lang="en-US" sz="1200" dirty="0"/>
          </a:p>
          <a:p>
            <a:pPr marL="342900" indent="-342900">
              <a:spcAft>
                <a:spcPts val="700"/>
              </a:spcAft>
              <a:buSzPct val="100000"/>
              <a:buChar char="•"/>
            </a:pPr>
            <a:r>
              <a:rPr lang="en-US" sz="1200" dirty="0">
                <a:solidFill>
                  <a:srgbClr val="1A2233"/>
                </a:solidFill>
                <a:latin typeface="Calibri" pitchFamily="34" charset="0"/>
                <a:ea typeface="Calibri" pitchFamily="34" charset="-122"/>
                <a:cs typeface="Calibri" pitchFamily="34" charset="-120"/>
              </a:rPr>
              <a:t>Un seul Pod peut monter le volume a la fois.</a:t>
            </a:r>
            <a:endParaRPr lang="en-US" sz="1200" dirty="0"/>
          </a:p>
          <a:p>
            <a:pPr marL="342900" indent="-342900">
              <a:spcAft>
                <a:spcPts val="700"/>
              </a:spcAft>
              <a:buSzPct val="100000"/>
              <a:buChar char="•"/>
            </a:pPr>
            <a:r>
              <a:rPr lang="en-US" sz="1200" dirty="0">
                <a:solidFill>
                  <a:srgbClr val="1A2233"/>
                </a:solidFill>
                <a:latin typeface="Calibri" pitchFamily="34" charset="0"/>
                <a:ea typeface="Calibri" pitchFamily="34" charset="-122"/>
                <a:cs typeface="Calibri" pitchFamily="34" charset="-120"/>
              </a:rPr>
              <a:t>Recreate : on arrete l'ancien Pod avant de creer le nouveau -&gt; pas de conflit de montage.</a:t>
            </a:r>
            <a:endParaRPr lang="en-US" sz="1200" dirty="0"/>
          </a:p>
        </p:txBody>
      </p:sp>
      <p:sp>
        <p:nvSpPr>
          <p:cNvPr id="14" name="Text 10"/>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15" name="Text 11"/>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RESEAU</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Services &amp; communication</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1645920"/>
                <a:gridCol w="2377440"/>
                <a:gridCol w="4297680"/>
              </a:tblGrid>
              <a:tr h="50292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Service</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Port</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r>
              <a:tr h="502920">
                <a:tc>
                  <a:txBody>
                    <a:bodyPr/>
                    <a:lstStyle/>
                    <a:p>
                      <a:pPr indent="0" marL="0">
                        <a:buNone/>
                      </a:pPr>
                      <a:r>
                        <a:rPr lang="en-US" sz="1250" dirty="0">
                          <a:solidFill>
                            <a:srgbClr val="326CE5"/>
                          </a:solidFill>
                          <a:latin typeface="Consolas" pitchFamily="34" charset="0"/>
                          <a:ea typeface="Consolas" pitchFamily="34" charset="-122"/>
                          <a:cs typeface="Consolas" pitchFamily="34" charset="-120"/>
                        </a:rPr>
                        <a:t>frontend-service</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NodePort</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onsolas" pitchFamily="34" charset="0"/>
                          <a:ea typeface="Consolas" pitchFamily="34" charset="-122"/>
                          <a:cs typeface="Consolas" pitchFamily="34" charset="-120"/>
                        </a:rPr>
                        <a:t>30080 -&gt; 80</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Acces public au frontend</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r h="502920">
                <a:tc>
                  <a:txBody>
                    <a:bodyPr/>
                    <a:lstStyle/>
                    <a:p>
                      <a:pPr indent="0" marL="0">
                        <a:buNone/>
                      </a:pPr>
                      <a:r>
                        <a:rPr lang="en-US" sz="1250" dirty="0">
                          <a:solidFill>
                            <a:srgbClr val="326CE5"/>
                          </a:solidFill>
                          <a:latin typeface="Consolas" pitchFamily="34" charset="0"/>
                          <a:ea typeface="Consolas" pitchFamily="34" charset="-122"/>
                          <a:cs typeface="Consolas" pitchFamily="34" charset="-120"/>
                        </a:rPr>
                        <a:t>backend-service</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ClusterIP</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onsolas" pitchFamily="34" charset="0"/>
                          <a:ea typeface="Consolas" pitchFamily="34" charset="-122"/>
                          <a:cs typeface="Consolas" pitchFamily="34" charset="-120"/>
                        </a:rPr>
                        <a:t>3000</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Backend joignable en interne</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r h="502920">
                <a:tc>
                  <a:txBody>
                    <a:bodyPr/>
                    <a:lstStyle/>
                    <a:p>
                      <a:pPr indent="0" marL="0">
                        <a:buNone/>
                      </a:pPr>
                      <a:r>
                        <a:rPr lang="en-US" sz="1250" dirty="0">
                          <a:solidFill>
                            <a:srgbClr val="326CE5"/>
                          </a:solidFill>
                          <a:latin typeface="Consolas" pitchFamily="34" charset="0"/>
                          <a:ea typeface="Consolas" pitchFamily="34" charset="-122"/>
                          <a:cs typeface="Consolas" pitchFamily="34" charset="-120"/>
                        </a:rPr>
                        <a:t>prometheus-service</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NodePort</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onsolas" pitchFamily="34" charset="0"/>
                          <a:ea typeface="Consolas" pitchFamily="34" charset="-122"/>
                          <a:cs typeface="Consolas" pitchFamily="34" charset="-120"/>
                        </a:rPr>
                        <a:t>30090 -&gt; 9090</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UI Prometheus (bonus)</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r h="502920">
                <a:tc>
                  <a:txBody>
                    <a:bodyPr/>
                    <a:lstStyle/>
                    <a:p>
                      <a:pPr indent="0" marL="0">
                        <a:buNone/>
                      </a:pPr>
                      <a:r>
                        <a:rPr lang="en-US" sz="1250" dirty="0">
                          <a:solidFill>
                            <a:srgbClr val="326CE5"/>
                          </a:solidFill>
                          <a:latin typeface="Consolas" pitchFamily="34" charset="0"/>
                          <a:ea typeface="Consolas" pitchFamily="34" charset="-122"/>
                          <a:cs typeface="Consolas" pitchFamily="34" charset="-120"/>
                        </a:rPr>
                        <a:t>grafana-service</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NodePort</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onsolas" pitchFamily="34" charset="0"/>
                          <a:ea typeface="Consolas" pitchFamily="34" charset="-122"/>
                          <a:cs typeface="Consolas" pitchFamily="34" charset="-120"/>
                        </a:rPr>
                        <a:t>30030 -&gt; 3000</a:t>
                      </a:r>
                      <a:endParaRPr lang="en-US" sz="1250" dirty="0">
                        <a:latin typeface="Consolas" charset="0"/>
                        <a:ea typeface="Consolas" charset="0"/>
                        <a:cs typeface="Consolas"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c>
                  <a:txBody>
                    <a:bodyPr/>
                    <a:lstStyle/>
                    <a:p>
                      <a:pPr indent="0" marL="0">
                        <a:buNone/>
                      </a:pPr>
                      <a:r>
                        <a:rPr lang="en-US" sz="1250" dirty="0">
                          <a:solidFill>
                            <a:srgbClr val="1A2233"/>
                          </a:solidFill>
                          <a:latin typeface="Calibri" pitchFamily="34" charset="0"/>
                          <a:ea typeface="Calibri" pitchFamily="34" charset="-122"/>
                          <a:cs typeface="Calibri" pitchFamily="34" charset="-120"/>
                        </a:rPr>
                        <a:t>Dashboards Grafana (bonus)</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tcPr>
                </a:tc>
              </a:tr>
            </a:tbl>
          </a:graphicData>
        </a:graphic>
      </p:graphicFrame>
      <p:sp>
        <p:nvSpPr>
          <p:cNvPr id="8" name="Shape 4"/>
          <p:cNvSpPr/>
          <p:nvPr/>
        </p:nvSpPr>
        <p:spPr>
          <a:xfrm>
            <a:off x="548640" y="4160520"/>
            <a:ext cx="11064240" cy="1965960"/>
          </a:xfrm>
          <a:prstGeom prst="rect">
            <a:avLst/>
          </a:prstGeom>
          <a:solidFill>
            <a:srgbClr val="0B1F3A"/>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9" name="Text 5"/>
          <p:cNvSpPr/>
          <p:nvPr/>
        </p:nvSpPr>
        <p:spPr>
          <a:xfrm>
            <a:off x="777240" y="4279392"/>
            <a:ext cx="10607040" cy="320040"/>
          </a:xfrm>
          <a:prstGeom prst="rect">
            <a:avLst/>
          </a:prstGeom>
          <a:noFill/>
          <a:ln/>
        </p:spPr>
        <p:txBody>
          <a:bodyPr wrap="square" rtlCol="0" anchor="ctr"/>
          <a:lstStyle/>
          <a:p>
            <a:pPr indent="0" marL="0">
              <a:buNone/>
            </a:pPr>
            <a:r>
              <a:rPr lang="en-US" sz="1400" b="1" dirty="0">
                <a:solidFill>
                  <a:srgbClr val="00B4D8"/>
                </a:solidFill>
                <a:latin typeface="Trebuchet MS" pitchFamily="34" charset="0"/>
                <a:ea typeface="Trebuchet MS" pitchFamily="34" charset="-122"/>
                <a:cs typeface="Trebuchet MS" pitchFamily="34" charset="-120"/>
              </a:rPr>
              <a:t>Chaine de communication</a:t>
            </a:r>
            <a:endParaRPr lang="en-US" sz="1400" dirty="0"/>
          </a:p>
        </p:txBody>
      </p:sp>
      <p:sp>
        <p:nvSpPr>
          <p:cNvPr id="10" name="Shape 6"/>
          <p:cNvSpPr/>
          <p:nvPr/>
        </p:nvSpPr>
        <p:spPr>
          <a:xfrm>
            <a:off x="1655064" y="4800600"/>
            <a:ext cx="1280160" cy="457200"/>
          </a:xfrm>
          <a:prstGeom prst="roundRect">
            <a:avLst>
              <a:gd name="adj" fmla="val 20000"/>
            </a:avLst>
          </a:prstGeom>
          <a:solidFill>
            <a:srgbClr val="326CE5"/>
          </a:solidFill>
          <a:ln/>
        </p:spPr>
      </p:sp>
      <p:sp>
        <p:nvSpPr>
          <p:cNvPr id="11" name="Text 7"/>
          <p:cNvSpPr/>
          <p:nvPr/>
        </p:nvSpPr>
        <p:spPr>
          <a:xfrm>
            <a:off x="1655064" y="4800600"/>
            <a:ext cx="128016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Navigateur</a:t>
            </a:r>
            <a:endParaRPr lang="en-US" sz="1100" dirty="0"/>
          </a:p>
        </p:txBody>
      </p:sp>
      <p:sp>
        <p:nvSpPr>
          <p:cNvPr id="12" name="Text 8"/>
          <p:cNvSpPr/>
          <p:nvPr/>
        </p:nvSpPr>
        <p:spPr>
          <a:xfrm>
            <a:off x="2935224" y="4800600"/>
            <a:ext cx="384048" cy="457200"/>
          </a:xfrm>
          <a:prstGeom prst="rect">
            <a:avLst/>
          </a:prstGeom>
          <a:noFill/>
          <a:ln/>
        </p:spPr>
        <p:txBody>
          <a:bodyPr wrap="square" rtlCol="0" anchor="ctr"/>
          <a:lstStyle/>
          <a:p>
            <a:pPr algn="ctr" indent="0" marL="0">
              <a:buNone/>
            </a:pPr>
            <a:r>
              <a:rPr lang="en-US" sz="1600" b="1" dirty="0">
                <a:solidFill>
                  <a:srgbClr val="00B4D8"/>
                </a:solidFill>
                <a:latin typeface="Trebuchet MS" pitchFamily="34" charset="0"/>
                <a:ea typeface="Trebuchet MS" pitchFamily="34" charset="-122"/>
                <a:cs typeface="Trebuchet MS" pitchFamily="34" charset="-120"/>
              </a:rPr>
              <a:t>&gt;</a:t>
            </a:r>
            <a:endParaRPr lang="en-US" sz="1600" dirty="0"/>
          </a:p>
        </p:txBody>
      </p:sp>
      <p:sp>
        <p:nvSpPr>
          <p:cNvPr id="13" name="Shape 9"/>
          <p:cNvSpPr/>
          <p:nvPr/>
        </p:nvSpPr>
        <p:spPr>
          <a:xfrm>
            <a:off x="3319272" y="4800600"/>
            <a:ext cx="1554480" cy="457200"/>
          </a:xfrm>
          <a:prstGeom prst="roundRect">
            <a:avLst>
              <a:gd name="adj" fmla="val 20000"/>
            </a:avLst>
          </a:prstGeom>
          <a:solidFill>
            <a:srgbClr val="12305C"/>
          </a:solidFill>
          <a:ln/>
        </p:spPr>
      </p:sp>
      <p:sp>
        <p:nvSpPr>
          <p:cNvPr id="14" name="Text 10"/>
          <p:cNvSpPr/>
          <p:nvPr/>
        </p:nvSpPr>
        <p:spPr>
          <a:xfrm>
            <a:off x="3319272" y="4800600"/>
            <a:ext cx="15544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Nginx (Pod 1)</a:t>
            </a:r>
            <a:endParaRPr lang="en-US" sz="1100" dirty="0"/>
          </a:p>
        </p:txBody>
      </p:sp>
      <p:sp>
        <p:nvSpPr>
          <p:cNvPr id="15" name="Text 11"/>
          <p:cNvSpPr/>
          <p:nvPr/>
        </p:nvSpPr>
        <p:spPr>
          <a:xfrm>
            <a:off x="4873752" y="4800600"/>
            <a:ext cx="384048" cy="457200"/>
          </a:xfrm>
          <a:prstGeom prst="rect">
            <a:avLst/>
          </a:prstGeom>
          <a:noFill/>
          <a:ln/>
        </p:spPr>
        <p:txBody>
          <a:bodyPr wrap="square" rtlCol="0" anchor="ctr"/>
          <a:lstStyle/>
          <a:p>
            <a:pPr algn="ctr" indent="0" marL="0">
              <a:buNone/>
            </a:pPr>
            <a:r>
              <a:rPr lang="en-US" sz="1600" b="1" dirty="0">
                <a:solidFill>
                  <a:srgbClr val="00B4D8"/>
                </a:solidFill>
                <a:latin typeface="Trebuchet MS" pitchFamily="34" charset="0"/>
                <a:ea typeface="Trebuchet MS" pitchFamily="34" charset="-122"/>
                <a:cs typeface="Trebuchet MS" pitchFamily="34" charset="-120"/>
              </a:rPr>
              <a:t>&gt;</a:t>
            </a:r>
            <a:endParaRPr lang="en-US" sz="1600" dirty="0"/>
          </a:p>
        </p:txBody>
      </p:sp>
      <p:sp>
        <p:nvSpPr>
          <p:cNvPr id="16" name="Shape 12"/>
          <p:cNvSpPr/>
          <p:nvPr/>
        </p:nvSpPr>
        <p:spPr>
          <a:xfrm>
            <a:off x="5257800" y="4800600"/>
            <a:ext cx="1737360" cy="457200"/>
          </a:xfrm>
          <a:prstGeom prst="roundRect">
            <a:avLst>
              <a:gd name="adj" fmla="val 20000"/>
            </a:avLst>
          </a:prstGeom>
          <a:solidFill>
            <a:srgbClr val="326CE5"/>
          </a:solidFill>
          <a:ln/>
        </p:spPr>
      </p:sp>
      <p:sp>
        <p:nvSpPr>
          <p:cNvPr id="17" name="Text 13"/>
          <p:cNvSpPr/>
          <p:nvPr/>
        </p:nvSpPr>
        <p:spPr>
          <a:xfrm>
            <a:off x="5257800" y="4800600"/>
            <a:ext cx="173736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backend-service</a:t>
            </a:r>
            <a:endParaRPr lang="en-US" sz="1100" dirty="0"/>
          </a:p>
        </p:txBody>
      </p:sp>
      <p:sp>
        <p:nvSpPr>
          <p:cNvPr id="18" name="Text 14"/>
          <p:cNvSpPr/>
          <p:nvPr/>
        </p:nvSpPr>
        <p:spPr>
          <a:xfrm>
            <a:off x="6995160" y="4800600"/>
            <a:ext cx="384048" cy="457200"/>
          </a:xfrm>
          <a:prstGeom prst="rect">
            <a:avLst/>
          </a:prstGeom>
          <a:noFill/>
          <a:ln/>
        </p:spPr>
        <p:txBody>
          <a:bodyPr wrap="square" rtlCol="0" anchor="ctr"/>
          <a:lstStyle/>
          <a:p>
            <a:pPr algn="ctr" indent="0" marL="0">
              <a:buNone/>
            </a:pPr>
            <a:r>
              <a:rPr lang="en-US" sz="1600" b="1" dirty="0">
                <a:solidFill>
                  <a:srgbClr val="00B4D8"/>
                </a:solidFill>
                <a:latin typeface="Trebuchet MS" pitchFamily="34" charset="0"/>
                <a:ea typeface="Trebuchet MS" pitchFamily="34" charset="-122"/>
                <a:cs typeface="Trebuchet MS" pitchFamily="34" charset="-120"/>
              </a:rPr>
              <a:t>&gt;</a:t>
            </a:r>
            <a:endParaRPr lang="en-US" sz="1600" dirty="0"/>
          </a:p>
        </p:txBody>
      </p:sp>
      <p:sp>
        <p:nvSpPr>
          <p:cNvPr id="19" name="Shape 15"/>
          <p:cNvSpPr/>
          <p:nvPr/>
        </p:nvSpPr>
        <p:spPr>
          <a:xfrm>
            <a:off x="7379208" y="4800600"/>
            <a:ext cx="1737360" cy="457200"/>
          </a:xfrm>
          <a:prstGeom prst="roundRect">
            <a:avLst>
              <a:gd name="adj" fmla="val 20000"/>
            </a:avLst>
          </a:prstGeom>
          <a:solidFill>
            <a:srgbClr val="12305C"/>
          </a:solidFill>
          <a:ln/>
        </p:spPr>
      </p:sp>
      <p:sp>
        <p:nvSpPr>
          <p:cNvPr id="20" name="Text 16"/>
          <p:cNvSpPr/>
          <p:nvPr/>
        </p:nvSpPr>
        <p:spPr>
          <a:xfrm>
            <a:off x="7379208" y="4800600"/>
            <a:ext cx="173736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Backend (Pod 2)</a:t>
            </a:r>
            <a:endParaRPr lang="en-US" sz="1100" dirty="0"/>
          </a:p>
        </p:txBody>
      </p:sp>
      <p:sp>
        <p:nvSpPr>
          <p:cNvPr id="21" name="Text 17"/>
          <p:cNvSpPr/>
          <p:nvPr/>
        </p:nvSpPr>
        <p:spPr>
          <a:xfrm>
            <a:off x="9116568" y="4800600"/>
            <a:ext cx="384048" cy="457200"/>
          </a:xfrm>
          <a:prstGeom prst="rect">
            <a:avLst/>
          </a:prstGeom>
          <a:noFill/>
          <a:ln/>
        </p:spPr>
        <p:txBody>
          <a:bodyPr wrap="square" rtlCol="0" anchor="ctr"/>
          <a:lstStyle/>
          <a:p>
            <a:pPr algn="ctr" indent="0" marL="0">
              <a:buNone/>
            </a:pPr>
            <a:r>
              <a:rPr lang="en-US" sz="1600" b="1" dirty="0">
                <a:solidFill>
                  <a:srgbClr val="00B4D8"/>
                </a:solidFill>
                <a:latin typeface="Trebuchet MS" pitchFamily="34" charset="0"/>
                <a:ea typeface="Trebuchet MS" pitchFamily="34" charset="-122"/>
                <a:cs typeface="Trebuchet MS" pitchFamily="34" charset="-120"/>
              </a:rPr>
              <a:t>&gt;</a:t>
            </a:r>
            <a:endParaRPr lang="en-US" sz="1600" dirty="0"/>
          </a:p>
        </p:txBody>
      </p:sp>
      <p:sp>
        <p:nvSpPr>
          <p:cNvPr id="22" name="Shape 18"/>
          <p:cNvSpPr/>
          <p:nvPr/>
        </p:nvSpPr>
        <p:spPr>
          <a:xfrm>
            <a:off x="9500616" y="4800600"/>
            <a:ext cx="1005840" cy="457200"/>
          </a:xfrm>
          <a:prstGeom prst="roundRect">
            <a:avLst>
              <a:gd name="adj" fmla="val 20000"/>
            </a:avLst>
          </a:prstGeom>
          <a:solidFill>
            <a:srgbClr val="326CE5"/>
          </a:solidFill>
          <a:ln/>
        </p:spPr>
      </p:sp>
      <p:sp>
        <p:nvSpPr>
          <p:cNvPr id="23" name="Text 19"/>
          <p:cNvSpPr/>
          <p:nvPr/>
        </p:nvSpPr>
        <p:spPr>
          <a:xfrm>
            <a:off x="9500616" y="4800600"/>
            <a:ext cx="100584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MongoDB</a:t>
            </a:r>
            <a:endParaRPr lang="en-US" sz="1100" dirty="0"/>
          </a:p>
        </p:txBody>
      </p:sp>
      <p:sp>
        <p:nvSpPr>
          <p:cNvPr id="24" name="Text 20"/>
          <p:cNvSpPr/>
          <p:nvPr/>
        </p:nvSpPr>
        <p:spPr>
          <a:xfrm>
            <a:off x="777240" y="5440680"/>
            <a:ext cx="10607040" cy="457200"/>
          </a:xfrm>
          <a:prstGeom prst="rect">
            <a:avLst/>
          </a:prstGeom>
          <a:noFill/>
          <a:ln/>
        </p:spPr>
        <p:txBody>
          <a:bodyPr wrap="square" rtlCol="0" anchor="ctr"/>
          <a:lstStyle/>
          <a:p>
            <a:pPr indent="0" marL="0">
              <a:buNone/>
            </a:pPr>
            <a:r>
              <a:rPr lang="en-US" sz="1250" i="1" dirty="0">
                <a:solidFill>
                  <a:srgbClr val="CADCFC"/>
                </a:solidFill>
                <a:latin typeface="Calibri" pitchFamily="34" charset="0"/>
                <a:ea typeface="Calibri" pitchFamily="34" charset="-122"/>
                <a:cs typeface="Calibri" pitchFamily="34" charset="-120"/>
              </a:rPr>
              <a:t>Reverse-proxy Nginx (/api) : une seule origine cote navigateur, pas de CORS. MongoDB joint via localhost dans le Pod 2.</a:t>
            </a:r>
            <a:endParaRPr lang="en-US" sz="1250" dirty="0"/>
          </a:p>
        </p:txBody>
      </p:sp>
      <p:sp>
        <p:nvSpPr>
          <p:cNvPr id="25" name="Text 21"/>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26" name="Text 22"/>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DONNEES &amp; SECURITE</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Persistance (PV/PVC) &amp; Secrets</a:t>
            </a:r>
            <a:endParaRPr lang="en-US" sz="2600" dirty="0"/>
          </a:p>
        </p:txBody>
      </p:sp>
      <p:sp>
        <p:nvSpPr>
          <p:cNvPr id="7" name="Shape 4"/>
          <p:cNvSpPr/>
          <p:nvPr/>
        </p:nvSpPr>
        <p:spPr>
          <a:xfrm>
            <a:off x="548640" y="1371600"/>
            <a:ext cx="5486400" cy="274320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Text 5"/>
          <p:cNvSpPr/>
          <p:nvPr/>
        </p:nvSpPr>
        <p:spPr>
          <a:xfrm>
            <a:off x="777240" y="1481328"/>
            <a:ext cx="5029200" cy="320040"/>
          </a:xfrm>
          <a:prstGeom prst="rect">
            <a:avLst/>
          </a:prstGeom>
          <a:noFill/>
          <a:ln/>
        </p:spPr>
        <p:txBody>
          <a:bodyPr wrap="square" rtlCol="0" anchor="ctr"/>
          <a:lstStyle/>
          <a:p>
            <a:pPr indent="0" marL="0">
              <a:buNone/>
            </a:pPr>
            <a:r>
              <a:rPr lang="en-US" sz="1500" b="1" dirty="0">
                <a:solidFill>
                  <a:srgbClr val="326CE5"/>
                </a:solidFill>
                <a:latin typeface="Trebuchet MS" pitchFamily="34" charset="0"/>
                <a:ea typeface="Trebuchet MS" pitchFamily="34" charset="-122"/>
                <a:cs typeface="Trebuchet MS" pitchFamily="34" charset="-120"/>
              </a:rPr>
              <a:t>Persistance MongoDB</a:t>
            </a:r>
            <a:endParaRPr lang="en-US" sz="1500" dirty="0"/>
          </a:p>
        </p:txBody>
      </p:sp>
      <p:sp>
        <p:nvSpPr>
          <p:cNvPr id="9" name="Shape 6"/>
          <p:cNvSpPr/>
          <p:nvPr/>
        </p:nvSpPr>
        <p:spPr>
          <a:xfrm>
            <a:off x="777240" y="1920240"/>
            <a:ext cx="5029200" cy="603504"/>
          </a:xfrm>
          <a:prstGeom prst="rect">
            <a:avLst/>
          </a:prstGeom>
          <a:solidFill>
            <a:srgbClr val="F4F6FA"/>
          </a:solidFill>
          <a:ln w="12700">
            <a:solidFill>
              <a:srgbClr val="DDE3EC"/>
            </a:solidFill>
            <a:prstDash val="solid"/>
          </a:ln>
        </p:spPr>
      </p:sp>
      <p:sp>
        <p:nvSpPr>
          <p:cNvPr id="10" name="Shape 7"/>
          <p:cNvSpPr/>
          <p:nvPr/>
        </p:nvSpPr>
        <p:spPr>
          <a:xfrm>
            <a:off x="777240" y="1920240"/>
            <a:ext cx="73152" cy="603504"/>
          </a:xfrm>
          <a:prstGeom prst="rect">
            <a:avLst/>
          </a:prstGeom>
          <a:solidFill>
            <a:srgbClr val="326CE5"/>
          </a:solidFill>
          <a:ln/>
        </p:spPr>
      </p:sp>
      <p:sp>
        <p:nvSpPr>
          <p:cNvPr id="11" name="Text 8"/>
          <p:cNvSpPr/>
          <p:nvPr/>
        </p:nvSpPr>
        <p:spPr>
          <a:xfrm>
            <a:off x="960120" y="1965960"/>
            <a:ext cx="4754880" cy="274320"/>
          </a:xfrm>
          <a:prstGeom prst="rect">
            <a:avLst/>
          </a:prstGeom>
          <a:noFill/>
          <a:ln/>
        </p:spPr>
        <p:txBody>
          <a:bodyPr wrap="square" rtlCol="0" anchor="ctr"/>
          <a:lstStyle/>
          <a:p>
            <a:pPr indent="0" marL="0">
              <a:buNone/>
            </a:pPr>
            <a:r>
              <a:rPr lang="en-US" sz="1250" b="1" dirty="0">
                <a:solidFill>
                  <a:srgbClr val="1A2233"/>
                </a:solidFill>
                <a:latin typeface="Trebuchet MS" pitchFamily="34" charset="0"/>
                <a:ea typeface="Trebuchet MS" pitchFamily="34" charset="-122"/>
                <a:cs typeface="Trebuchet MS" pitchFamily="34" charset="-120"/>
              </a:rPr>
              <a:t>PersistentVolume</a:t>
            </a:r>
            <a:endParaRPr lang="en-US" sz="1250" dirty="0"/>
          </a:p>
        </p:txBody>
      </p:sp>
      <p:sp>
        <p:nvSpPr>
          <p:cNvPr id="12" name="Text 9"/>
          <p:cNvSpPr/>
          <p:nvPr/>
        </p:nvSpPr>
        <p:spPr>
          <a:xfrm>
            <a:off x="960120" y="2221992"/>
            <a:ext cx="4754880" cy="274320"/>
          </a:xfrm>
          <a:prstGeom prst="rect">
            <a:avLst/>
          </a:prstGeom>
          <a:noFill/>
          <a:ln/>
        </p:spPr>
        <p:txBody>
          <a:bodyPr wrap="square" rtlCol="0" anchor="ctr"/>
          <a:lstStyle/>
          <a:p>
            <a:pPr indent="0" marL="0">
              <a:buNone/>
            </a:pPr>
            <a:r>
              <a:rPr lang="en-US" sz="1050" dirty="0">
                <a:solidFill>
                  <a:srgbClr val="5B6B7F"/>
                </a:solidFill>
                <a:latin typeface="Calibri" pitchFamily="34" charset="0"/>
                <a:ea typeface="Calibri" pitchFamily="34" charset="-122"/>
                <a:cs typeface="Calibri" pitchFamily="34" charset="-120"/>
              </a:rPr>
              <a:t>hostPath 2 Gi, reclaim Retain</a:t>
            </a:r>
            <a:endParaRPr lang="en-US" sz="1050" dirty="0"/>
          </a:p>
        </p:txBody>
      </p:sp>
      <p:sp>
        <p:nvSpPr>
          <p:cNvPr id="13" name="Shape 10"/>
          <p:cNvSpPr/>
          <p:nvPr/>
        </p:nvSpPr>
        <p:spPr>
          <a:xfrm>
            <a:off x="777240" y="2633472"/>
            <a:ext cx="5029200" cy="603504"/>
          </a:xfrm>
          <a:prstGeom prst="rect">
            <a:avLst/>
          </a:prstGeom>
          <a:solidFill>
            <a:srgbClr val="F4F6FA"/>
          </a:solidFill>
          <a:ln w="12700">
            <a:solidFill>
              <a:srgbClr val="DDE3EC"/>
            </a:solidFill>
            <a:prstDash val="solid"/>
          </a:ln>
        </p:spPr>
      </p:sp>
      <p:sp>
        <p:nvSpPr>
          <p:cNvPr id="14" name="Shape 11"/>
          <p:cNvSpPr/>
          <p:nvPr/>
        </p:nvSpPr>
        <p:spPr>
          <a:xfrm>
            <a:off x="777240" y="2633472"/>
            <a:ext cx="73152" cy="603504"/>
          </a:xfrm>
          <a:prstGeom prst="rect">
            <a:avLst/>
          </a:prstGeom>
          <a:solidFill>
            <a:srgbClr val="326CE5"/>
          </a:solidFill>
          <a:ln/>
        </p:spPr>
      </p:sp>
      <p:sp>
        <p:nvSpPr>
          <p:cNvPr id="15" name="Text 12"/>
          <p:cNvSpPr/>
          <p:nvPr/>
        </p:nvSpPr>
        <p:spPr>
          <a:xfrm>
            <a:off x="960120" y="2679192"/>
            <a:ext cx="4754880" cy="274320"/>
          </a:xfrm>
          <a:prstGeom prst="rect">
            <a:avLst/>
          </a:prstGeom>
          <a:noFill/>
          <a:ln/>
        </p:spPr>
        <p:txBody>
          <a:bodyPr wrap="square" rtlCol="0" anchor="ctr"/>
          <a:lstStyle/>
          <a:p>
            <a:pPr indent="0" marL="0">
              <a:buNone/>
            </a:pPr>
            <a:r>
              <a:rPr lang="en-US" sz="1250" b="1" dirty="0">
                <a:solidFill>
                  <a:srgbClr val="1A2233"/>
                </a:solidFill>
                <a:latin typeface="Trebuchet MS" pitchFamily="34" charset="0"/>
                <a:ea typeface="Trebuchet MS" pitchFamily="34" charset="-122"/>
                <a:cs typeface="Trebuchet MS" pitchFamily="34" charset="-120"/>
              </a:rPr>
              <a:t>PersistentVolumeClaim</a:t>
            </a:r>
            <a:endParaRPr lang="en-US" sz="1250" dirty="0"/>
          </a:p>
        </p:txBody>
      </p:sp>
      <p:sp>
        <p:nvSpPr>
          <p:cNvPr id="16" name="Text 13"/>
          <p:cNvSpPr/>
          <p:nvPr/>
        </p:nvSpPr>
        <p:spPr>
          <a:xfrm>
            <a:off x="960120" y="2935224"/>
            <a:ext cx="4754880" cy="274320"/>
          </a:xfrm>
          <a:prstGeom prst="rect">
            <a:avLst/>
          </a:prstGeom>
          <a:noFill/>
          <a:ln/>
        </p:spPr>
        <p:txBody>
          <a:bodyPr wrap="square" rtlCol="0" anchor="ctr"/>
          <a:lstStyle/>
          <a:p>
            <a:pPr indent="0" marL="0">
              <a:buNone/>
            </a:pPr>
            <a:r>
              <a:rPr lang="en-US" sz="1050" dirty="0">
                <a:solidFill>
                  <a:srgbClr val="5B6B7F"/>
                </a:solidFill>
                <a:latin typeface="Calibri" pitchFamily="34" charset="0"/>
                <a:ea typeface="Calibri" pitchFamily="34" charset="-122"/>
                <a:cs typeface="Calibri" pitchFamily="34" charset="-120"/>
              </a:rPr>
              <a:t>RWO, lie au PV (storageClass manual)</a:t>
            </a:r>
            <a:endParaRPr lang="en-US" sz="1050" dirty="0"/>
          </a:p>
        </p:txBody>
      </p:sp>
      <p:sp>
        <p:nvSpPr>
          <p:cNvPr id="17" name="Shape 14"/>
          <p:cNvSpPr/>
          <p:nvPr/>
        </p:nvSpPr>
        <p:spPr>
          <a:xfrm>
            <a:off x="777240" y="3346704"/>
            <a:ext cx="5029200" cy="603504"/>
          </a:xfrm>
          <a:prstGeom prst="rect">
            <a:avLst/>
          </a:prstGeom>
          <a:solidFill>
            <a:srgbClr val="F4F6FA"/>
          </a:solidFill>
          <a:ln w="12700">
            <a:solidFill>
              <a:srgbClr val="DDE3EC"/>
            </a:solidFill>
            <a:prstDash val="solid"/>
          </a:ln>
        </p:spPr>
      </p:sp>
      <p:sp>
        <p:nvSpPr>
          <p:cNvPr id="18" name="Shape 15"/>
          <p:cNvSpPr/>
          <p:nvPr/>
        </p:nvSpPr>
        <p:spPr>
          <a:xfrm>
            <a:off x="777240" y="3346704"/>
            <a:ext cx="73152" cy="603504"/>
          </a:xfrm>
          <a:prstGeom prst="rect">
            <a:avLst/>
          </a:prstGeom>
          <a:solidFill>
            <a:srgbClr val="326CE5"/>
          </a:solidFill>
          <a:ln/>
        </p:spPr>
      </p:sp>
      <p:sp>
        <p:nvSpPr>
          <p:cNvPr id="19" name="Text 16"/>
          <p:cNvSpPr/>
          <p:nvPr/>
        </p:nvSpPr>
        <p:spPr>
          <a:xfrm>
            <a:off x="960120" y="3392424"/>
            <a:ext cx="4754880" cy="274320"/>
          </a:xfrm>
          <a:prstGeom prst="rect">
            <a:avLst/>
          </a:prstGeom>
          <a:noFill/>
          <a:ln/>
        </p:spPr>
        <p:txBody>
          <a:bodyPr wrap="square" rtlCol="0" anchor="ctr"/>
          <a:lstStyle/>
          <a:p>
            <a:pPr indent="0" marL="0">
              <a:buNone/>
            </a:pPr>
            <a:r>
              <a:rPr lang="en-US" sz="1250" b="1" dirty="0">
                <a:solidFill>
                  <a:srgbClr val="1A2233"/>
                </a:solidFill>
                <a:latin typeface="Trebuchet MS" pitchFamily="34" charset="0"/>
                <a:ea typeface="Trebuchet MS" pitchFamily="34" charset="-122"/>
                <a:cs typeface="Trebuchet MS" pitchFamily="34" charset="-120"/>
              </a:rPr>
              <a:t>volumeMount</a:t>
            </a:r>
            <a:endParaRPr lang="en-US" sz="1250" dirty="0"/>
          </a:p>
        </p:txBody>
      </p:sp>
      <p:sp>
        <p:nvSpPr>
          <p:cNvPr id="20" name="Text 17"/>
          <p:cNvSpPr/>
          <p:nvPr/>
        </p:nvSpPr>
        <p:spPr>
          <a:xfrm>
            <a:off x="960120" y="3648456"/>
            <a:ext cx="4754880" cy="274320"/>
          </a:xfrm>
          <a:prstGeom prst="rect">
            <a:avLst/>
          </a:prstGeom>
          <a:noFill/>
          <a:ln/>
        </p:spPr>
        <p:txBody>
          <a:bodyPr wrap="square" rtlCol="0" anchor="ctr"/>
          <a:lstStyle/>
          <a:p>
            <a:pPr indent="0" marL="0">
              <a:buNone/>
            </a:pPr>
            <a:r>
              <a:rPr lang="en-US" sz="1050" dirty="0">
                <a:solidFill>
                  <a:srgbClr val="5B6B7F"/>
                </a:solidFill>
                <a:latin typeface="Calibri" pitchFamily="34" charset="0"/>
                <a:ea typeface="Calibri" pitchFamily="34" charset="-122"/>
                <a:cs typeface="Calibri" pitchFamily="34" charset="-120"/>
              </a:rPr>
              <a:t>/data/db dans le conteneur mongo</a:t>
            </a:r>
            <a:endParaRPr lang="en-US" sz="1050" dirty="0"/>
          </a:p>
        </p:txBody>
      </p:sp>
      <p:sp>
        <p:nvSpPr>
          <p:cNvPr id="21" name="Shape 18"/>
          <p:cNvSpPr/>
          <p:nvPr/>
        </p:nvSpPr>
        <p:spPr>
          <a:xfrm>
            <a:off x="6172200" y="1371600"/>
            <a:ext cx="5440680" cy="274320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22" name="Text 19"/>
          <p:cNvSpPr/>
          <p:nvPr/>
        </p:nvSpPr>
        <p:spPr>
          <a:xfrm>
            <a:off x="6400800" y="1481328"/>
            <a:ext cx="5029200" cy="320040"/>
          </a:xfrm>
          <a:prstGeom prst="rect">
            <a:avLst/>
          </a:prstGeom>
          <a:noFill/>
          <a:ln/>
        </p:spPr>
        <p:txBody>
          <a:bodyPr wrap="square" rtlCol="0" anchor="ctr"/>
          <a:lstStyle/>
          <a:p>
            <a:pPr indent="0" marL="0">
              <a:buNone/>
            </a:pPr>
            <a:r>
              <a:rPr lang="en-US" sz="1500" b="1" dirty="0">
                <a:solidFill>
                  <a:srgbClr val="00B4D8"/>
                </a:solidFill>
                <a:latin typeface="Trebuchet MS" pitchFamily="34" charset="0"/>
                <a:ea typeface="Trebuchet MS" pitchFamily="34" charset="-122"/>
                <a:cs typeface="Trebuchet MS" pitchFamily="34" charset="-120"/>
              </a:rPr>
              <a:t>Secrets (bonus securite)</a:t>
            </a:r>
            <a:endParaRPr lang="en-US" sz="1500" dirty="0"/>
          </a:p>
        </p:txBody>
      </p:sp>
      <p:sp>
        <p:nvSpPr>
          <p:cNvPr id="23" name="Shape 20"/>
          <p:cNvSpPr/>
          <p:nvPr/>
        </p:nvSpPr>
        <p:spPr>
          <a:xfrm>
            <a:off x="6400800" y="1874520"/>
            <a:ext cx="4983480" cy="1280160"/>
          </a:xfrm>
          <a:prstGeom prst="rect">
            <a:avLst/>
          </a:prstGeom>
          <a:solidFill>
            <a:srgbClr val="0B1F3A"/>
          </a:solidFill>
          <a:ln/>
        </p:spPr>
      </p:sp>
      <p:sp>
        <p:nvSpPr>
          <p:cNvPr id="24" name="Text 21"/>
          <p:cNvSpPr/>
          <p:nvPr/>
        </p:nvSpPr>
        <p:spPr>
          <a:xfrm>
            <a:off x="6537960" y="1993392"/>
            <a:ext cx="4709160" cy="1051560"/>
          </a:xfrm>
          <a:prstGeom prst="rect">
            <a:avLst/>
          </a:prstGeom>
          <a:noFill/>
          <a:ln/>
        </p:spPr>
        <p:txBody>
          <a:bodyPr wrap="square" rtlCol="0" anchor="ctr"/>
          <a:lstStyle/>
          <a:p>
            <a:pPr indent="0" marL="0">
              <a:buNone/>
            </a:pPr>
            <a:r>
              <a:rPr lang="en-US" sz="1100" b="1" dirty="0">
                <a:solidFill>
                  <a:srgbClr val="00B4D8"/>
                </a:solidFill>
                <a:latin typeface="Consolas" pitchFamily="34" charset="0"/>
                <a:ea typeface="Consolas" pitchFamily="34" charset="-122"/>
                <a:cs typeface="Consolas" pitchFamily="34" charset="-120"/>
              </a:rPr>
              <a:t>mongo-credentials</a:t>
            </a:r>
            <a:endParaRPr lang="en-US" sz="1100" dirty="0"/>
          </a:p>
          <a:p>
            <a:pPr indent="0" marL="0">
              <a:buNone/>
            </a:pPr>
            <a:r>
              <a:rPr lang="en-US" sz="1100" dirty="0">
                <a:solidFill>
                  <a:srgbClr val="9FE2FF"/>
                </a:solidFill>
                <a:latin typeface="Consolas" pitchFamily="34" charset="0"/>
                <a:ea typeface="Consolas" pitchFamily="34" charset="-122"/>
                <a:cs typeface="Consolas" pitchFamily="34" charset="-120"/>
              </a:rPr>
              <a:t>  MONGO_USER / MONGO_PASSWORD / MONGO_DB</a:t>
            </a:r>
            <a:endParaRPr lang="en-US" sz="1100" dirty="0"/>
          </a:p>
          <a:p>
            <a:pPr indent="0" marL="0">
              <a:buNone/>
            </a:pPr>
            <a:r>
              <a:rPr lang="en-US" sz="1100" b="1" dirty="0">
                <a:solidFill>
                  <a:srgbClr val="00B4D8"/>
                </a:solidFill>
                <a:latin typeface="Consolas" pitchFamily="34" charset="0"/>
                <a:ea typeface="Consolas" pitchFamily="34" charset="-122"/>
                <a:cs typeface="Consolas" pitchFamily="34" charset="-120"/>
              </a:rPr>
              <a:t>grafana-admin</a:t>
            </a:r>
            <a:endParaRPr lang="en-US" sz="1100" dirty="0"/>
          </a:p>
          <a:p>
            <a:pPr indent="0" marL="0">
              <a:buNone/>
            </a:pPr>
            <a:r>
              <a:rPr lang="en-US" sz="1100" dirty="0">
                <a:solidFill>
                  <a:srgbClr val="9FE2FF"/>
                </a:solidFill>
                <a:latin typeface="Consolas" pitchFamily="34" charset="0"/>
                <a:ea typeface="Consolas" pitchFamily="34" charset="-122"/>
                <a:cs typeface="Consolas" pitchFamily="34" charset="-120"/>
              </a:rPr>
              <a:t>  GF_SECURITY_ADMIN_*</a:t>
            </a:r>
            <a:endParaRPr lang="en-US" sz="1100" dirty="0"/>
          </a:p>
        </p:txBody>
      </p:sp>
      <p:sp>
        <p:nvSpPr>
          <p:cNvPr id="25" name="Text 22"/>
          <p:cNvSpPr/>
          <p:nvPr/>
        </p:nvSpPr>
        <p:spPr>
          <a:xfrm>
            <a:off x="6492240" y="3246120"/>
            <a:ext cx="4846320" cy="777240"/>
          </a:xfrm>
          <a:prstGeom prst="rect">
            <a:avLst/>
          </a:prstGeom>
          <a:noFill/>
          <a:ln/>
        </p:spPr>
        <p:txBody>
          <a:bodyPr wrap="square" rtlCol="0" anchor="ctr"/>
          <a:lstStyle/>
          <a:p>
            <a:pPr marL="342900" indent="-342900">
              <a:spcAft>
                <a:spcPts val="400"/>
              </a:spcAft>
              <a:buSzPct val="100000"/>
              <a:buChar char="•"/>
            </a:pPr>
            <a:r>
              <a:rPr lang="en-US" sz="1200" dirty="0">
                <a:solidFill>
                  <a:srgbClr val="1A2233"/>
                </a:solidFill>
                <a:latin typeface="Calibri" pitchFamily="34" charset="0"/>
                <a:ea typeface="Calibri" pitchFamily="34" charset="-122"/>
                <a:cs typeface="Calibri" pitchFamily="34" charset="-120"/>
              </a:rPr>
              <a:t>Aucun mot de passe en clair dans les Deployments.</a:t>
            </a:r>
            <a:endParaRPr lang="en-US" sz="1200" dirty="0"/>
          </a:p>
          <a:p>
            <a:pPr marL="342900" indent="-342900">
              <a:spcAft>
                <a:spcPts val="400"/>
              </a:spcAft>
              <a:buSzPct val="100000"/>
              <a:buChar char="•"/>
            </a:pPr>
            <a:r>
              <a:rPr lang="en-US" sz="1200" dirty="0">
                <a:solidFill>
                  <a:srgbClr val="1A2233"/>
                </a:solidFill>
                <a:latin typeface="Calibri" pitchFamily="34" charset="0"/>
                <a:ea typeface="Calibri" pitchFamily="34" charset="-122"/>
                <a:cs typeface="Calibri" pitchFamily="34" charset="-120"/>
              </a:rPr>
              <a:t>Injectes via secretKeyRef (variables d'env).</a:t>
            </a:r>
            <a:endParaRPr lang="en-US" sz="1200" dirty="0"/>
          </a:p>
        </p:txBody>
      </p:sp>
      <p:sp>
        <p:nvSpPr>
          <p:cNvPr id="26" name="Shape 23"/>
          <p:cNvSpPr/>
          <p:nvPr/>
        </p:nvSpPr>
        <p:spPr>
          <a:xfrm>
            <a:off x="548640" y="4343400"/>
            <a:ext cx="11064240" cy="1783080"/>
          </a:xfrm>
          <a:prstGeom prst="rect">
            <a:avLst/>
          </a:prstGeom>
          <a:solidFill>
            <a:srgbClr val="0B1F3A"/>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27" name="Text 24"/>
          <p:cNvSpPr/>
          <p:nvPr/>
        </p:nvSpPr>
        <p:spPr>
          <a:xfrm>
            <a:off x="777240" y="4462272"/>
            <a:ext cx="10607040" cy="320040"/>
          </a:xfrm>
          <a:prstGeom prst="rect">
            <a:avLst/>
          </a:prstGeom>
          <a:noFill/>
          <a:ln/>
        </p:spPr>
        <p:txBody>
          <a:bodyPr wrap="square" rtlCol="0" anchor="ctr"/>
          <a:lstStyle/>
          <a:p>
            <a:pPr indent="0" marL="0">
              <a:buNone/>
            </a:pPr>
            <a:r>
              <a:rPr lang="en-US" sz="1400" b="1" dirty="0">
                <a:solidFill>
                  <a:srgbClr val="00B4D8"/>
                </a:solidFill>
                <a:latin typeface="Trebuchet MS" pitchFamily="34" charset="0"/>
                <a:ea typeface="Trebuchet MS" pitchFamily="34" charset="-122"/>
                <a:cs typeface="Trebuchet MS" pitchFamily="34" charset="-120"/>
              </a:rPr>
              <a:t>Test de persistance apres redemarrage du Pod</a:t>
            </a:r>
            <a:endParaRPr lang="en-US" sz="1400" dirty="0"/>
          </a:p>
        </p:txBody>
      </p:sp>
      <p:sp>
        <p:nvSpPr>
          <p:cNvPr id="28" name="Shape 25"/>
          <p:cNvSpPr/>
          <p:nvPr/>
        </p:nvSpPr>
        <p:spPr>
          <a:xfrm>
            <a:off x="777240" y="4846320"/>
            <a:ext cx="10607040" cy="1097280"/>
          </a:xfrm>
          <a:prstGeom prst="rect">
            <a:avLst/>
          </a:prstGeom>
          <a:solidFill>
            <a:srgbClr val="081427"/>
          </a:solidFill>
          <a:ln/>
        </p:spPr>
      </p:sp>
      <p:sp>
        <p:nvSpPr>
          <p:cNvPr id="29" name="Text 26"/>
          <p:cNvSpPr/>
          <p:nvPr/>
        </p:nvSpPr>
        <p:spPr>
          <a:xfrm>
            <a:off x="914400" y="4956048"/>
            <a:ext cx="10332720" cy="914400"/>
          </a:xfrm>
          <a:prstGeom prst="rect">
            <a:avLst/>
          </a:prstGeom>
          <a:noFill/>
          <a:ln/>
        </p:spPr>
        <p:txBody>
          <a:bodyPr wrap="square" rtlCol="0" anchor="ctr"/>
          <a:lstStyle/>
          <a:p>
            <a:pPr indent="0" marL="0">
              <a:lnSpc>
                <a:spcPct val="120000"/>
              </a:lnSpc>
              <a:buNone/>
            </a:pPr>
            <a:r>
              <a:rPr lang="en-US" sz="1150" dirty="0">
                <a:solidFill>
                  <a:srgbClr val="C8D6E5"/>
                </a:solidFill>
                <a:latin typeface="Consolas" pitchFamily="34" charset="0"/>
                <a:ea typeface="Consolas" pitchFamily="34" charset="-122"/>
                <a:cs typeface="Consolas" pitchFamily="34" charset="-120"/>
              </a:rPr>
              <a:t># 1. passer une commande   2. supprimer le Pod</a:t>
            </a:r>
            <a:endParaRPr lang="en-US" sz="1150" dirty="0"/>
          </a:p>
          <a:p>
            <a:pPr indent="0" marL="0">
              <a:lnSpc>
                <a:spcPct val="120000"/>
              </a:lnSpc>
              <a:buNone/>
            </a:pPr>
            <a:r>
              <a:rPr lang="en-US" sz="1150" dirty="0">
                <a:solidFill>
                  <a:srgbClr val="9FE2FF"/>
                </a:solidFill>
                <a:latin typeface="Consolas" pitchFamily="34" charset="0"/>
                <a:ea typeface="Consolas" pitchFamily="34" charset="-122"/>
                <a:cs typeface="Consolas" pitchFamily="34" charset="-120"/>
              </a:rPr>
              <a:t>$ kubectl delete pod -n ecommerce -l app=backend-db</a:t>
            </a:r>
            <a:endParaRPr lang="en-US" sz="1150" dirty="0"/>
          </a:p>
          <a:p>
            <a:pPr indent="0" marL="0">
              <a:lnSpc>
                <a:spcPct val="120000"/>
              </a:lnSpc>
              <a:buNone/>
            </a:pPr>
            <a:r>
              <a:rPr lang="en-US" sz="1150" dirty="0">
                <a:solidFill>
                  <a:srgbClr val="16A34A"/>
                </a:solidFill>
                <a:latin typeface="Consolas" pitchFamily="34" charset="0"/>
                <a:ea typeface="Consolas" pitchFamily="34" charset="-122"/>
                <a:cs typeface="Consolas" pitchFamily="34" charset="-120"/>
              </a:rPr>
              <a:t># 3. le Deployment recree le Pod, le PVC est remonte  -&gt;  la commande est TOUJOURS la</a:t>
            </a:r>
            <a:endParaRPr lang="en-US" sz="1150" dirty="0"/>
          </a:p>
        </p:txBody>
      </p:sp>
      <p:sp>
        <p:nvSpPr>
          <p:cNvPr id="30" name="Text 27"/>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31" name="Text 28"/>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VALIDATION</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Demonstration fonctionnelle</a:t>
            </a:r>
            <a:endParaRPr lang="en-US" sz="2600" dirty="0"/>
          </a:p>
        </p:txBody>
      </p:sp>
      <p:sp>
        <p:nvSpPr>
          <p:cNvPr id="7" name="Shape 4"/>
          <p:cNvSpPr/>
          <p:nvPr/>
        </p:nvSpPr>
        <p:spPr>
          <a:xfrm>
            <a:off x="457200" y="1280160"/>
            <a:ext cx="5632704" cy="38404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Text 5"/>
          <p:cNvSpPr/>
          <p:nvPr/>
        </p:nvSpPr>
        <p:spPr>
          <a:xfrm>
            <a:off x="658368" y="1371600"/>
            <a:ext cx="5212080" cy="292608"/>
          </a:xfrm>
          <a:prstGeom prst="rect">
            <a:avLst/>
          </a:prstGeom>
          <a:noFill/>
          <a:ln/>
        </p:spPr>
        <p:txBody>
          <a:bodyPr wrap="square" rtlCol="0" anchor="ctr"/>
          <a:lstStyle/>
          <a:p>
            <a:pPr indent="0" marL="0">
              <a:buNone/>
            </a:pPr>
            <a:r>
              <a:rPr lang="en-US" sz="1350" b="1" dirty="0">
                <a:solidFill>
                  <a:srgbClr val="326CE5"/>
                </a:solidFill>
                <a:latin typeface="Trebuchet MS" pitchFamily="34" charset="0"/>
                <a:ea typeface="Trebuchet MS" pitchFamily="34" charset="-122"/>
                <a:cs typeface="Trebuchet MS" pitchFamily="34" charset="-120"/>
              </a:rPr>
              <a:t>Application e-commerce (Frontend)</a:t>
            </a:r>
            <a:endParaRPr lang="en-US" sz="1350" dirty="0"/>
          </a:p>
        </p:txBody>
      </p:sp>
      <p:pic>
        <p:nvPicPr>
          <p:cNvPr id="9" name="Image 0" descr="docs/screenshots/01-app-frontend.png">    </p:cNvPr>
          <p:cNvPicPr>
            <a:picLocks noChangeAspect="1"/>
          </p:cNvPicPr>
          <p:nvPr/>
        </p:nvPicPr>
        <p:blipFill>
          <a:blip r:embed="rId1"/>
          <a:srcRect l="0" r="0" t="0" b="0"/>
          <a:stretch/>
        </p:blipFill>
        <p:spPr>
          <a:xfrm>
            <a:off x="658368" y="1737360"/>
            <a:ext cx="5212080" cy="2926080"/>
          </a:xfrm>
          <a:prstGeom prst="rect">
            <a:avLst/>
          </a:prstGeom>
        </p:spPr>
      </p:pic>
      <p:sp>
        <p:nvSpPr>
          <p:cNvPr id="10" name="Text 6"/>
          <p:cNvSpPr/>
          <p:nvPr/>
        </p:nvSpPr>
        <p:spPr>
          <a:xfrm>
            <a:off x="658368" y="4736592"/>
            <a:ext cx="5212080" cy="320040"/>
          </a:xfrm>
          <a:prstGeom prst="rect">
            <a:avLst/>
          </a:prstGeom>
          <a:noFill/>
          <a:ln/>
        </p:spPr>
        <p:txBody>
          <a:bodyPr wrap="square"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localhost:30080 - catalogue servi par le backend via MongoDB</a:t>
            </a:r>
            <a:endParaRPr lang="en-US" sz="950" dirty="0"/>
          </a:p>
        </p:txBody>
      </p:sp>
      <p:sp>
        <p:nvSpPr>
          <p:cNvPr id="11" name="Shape 7"/>
          <p:cNvSpPr/>
          <p:nvPr/>
        </p:nvSpPr>
        <p:spPr>
          <a:xfrm>
            <a:off x="6254496" y="1280160"/>
            <a:ext cx="5477256" cy="384048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2" name="Text 8"/>
          <p:cNvSpPr/>
          <p:nvPr/>
        </p:nvSpPr>
        <p:spPr>
          <a:xfrm>
            <a:off x="6455664" y="1371600"/>
            <a:ext cx="5029200" cy="292608"/>
          </a:xfrm>
          <a:prstGeom prst="rect">
            <a:avLst/>
          </a:prstGeom>
          <a:noFill/>
          <a:ln/>
        </p:spPr>
        <p:txBody>
          <a:bodyPr wrap="square" rtlCol="0" anchor="ctr"/>
          <a:lstStyle/>
          <a:p>
            <a:pPr indent="0" marL="0">
              <a:buNone/>
            </a:pPr>
            <a:r>
              <a:rPr lang="en-US" sz="1350" b="1" dirty="0">
                <a:solidFill>
                  <a:srgbClr val="326CE5"/>
                </a:solidFill>
                <a:latin typeface="Trebuchet MS" pitchFamily="34" charset="0"/>
                <a:ea typeface="Trebuchet MS" pitchFamily="34" charset="-122"/>
                <a:cs typeface="Trebuchet MS" pitchFamily="34" charset="-120"/>
              </a:rPr>
              <a:t>Etat du cluster Kubernetes</a:t>
            </a:r>
            <a:endParaRPr lang="en-US" sz="1350" dirty="0"/>
          </a:p>
        </p:txBody>
      </p:sp>
      <p:pic>
        <p:nvPicPr>
          <p:cNvPr id="13" name="Image 1" descr="docs/screenshots/02-kubernetes-proof.png">    </p:cNvPr>
          <p:cNvPicPr>
            <a:picLocks noChangeAspect="1"/>
          </p:cNvPicPr>
          <p:nvPr/>
        </p:nvPicPr>
        <p:blipFill>
          <a:blip r:embed="rId2"/>
          <a:srcRect l="0" r="0" t="0" b="0"/>
          <a:stretch/>
        </p:blipFill>
        <p:spPr>
          <a:xfrm>
            <a:off x="6455664" y="1737360"/>
            <a:ext cx="5074920" cy="2926080"/>
          </a:xfrm>
          <a:prstGeom prst="rect">
            <a:avLst/>
          </a:prstGeom>
        </p:spPr>
      </p:pic>
      <p:sp>
        <p:nvSpPr>
          <p:cNvPr id="14" name="Text 9"/>
          <p:cNvSpPr/>
          <p:nvPr/>
        </p:nvSpPr>
        <p:spPr>
          <a:xfrm>
            <a:off x="6455664" y="4736592"/>
            <a:ext cx="5074920" cy="320040"/>
          </a:xfrm>
          <a:prstGeom prst="rect">
            <a:avLst/>
          </a:prstGeom>
          <a:noFill/>
          <a:ln/>
        </p:spPr>
        <p:txBody>
          <a:bodyPr wrap="square" rtlCol="0" anchor="ctr"/>
          <a:lstStyle/>
          <a:p>
            <a:pPr indent="0" marL="0">
              <a:buNone/>
            </a:pPr>
            <a:r>
              <a:rPr lang="en-US" sz="950" i="1" dirty="0">
                <a:solidFill>
                  <a:srgbClr val="5B6B7F"/>
                </a:solidFill>
                <a:latin typeface="Calibri" pitchFamily="34" charset="0"/>
                <a:ea typeface="Calibri" pitchFamily="34" charset="-122"/>
                <a:cs typeface="Calibri" pitchFamily="34" charset="-120"/>
              </a:rPr>
              <a:t>kubectl get all,pv,pvc - pods Running, PV/PVC Bound, /api/health OK</a:t>
            </a:r>
            <a:endParaRPr lang="en-US" sz="950" dirty="0"/>
          </a:p>
        </p:txBody>
      </p:sp>
      <p:sp>
        <p:nvSpPr>
          <p:cNvPr id="15" name="Shape 10"/>
          <p:cNvSpPr/>
          <p:nvPr/>
        </p:nvSpPr>
        <p:spPr>
          <a:xfrm>
            <a:off x="457200" y="5303520"/>
            <a:ext cx="2706624" cy="914400"/>
          </a:xfrm>
          <a:prstGeom prst="rect">
            <a:avLst/>
          </a:prstGeom>
          <a:solidFill>
            <a:srgbClr val="ECFDF5"/>
          </a:solidFill>
          <a:ln w="12700">
            <a:solidFill>
              <a:srgbClr val="86EFAC"/>
            </a:solidFill>
            <a:prstDash val="solid"/>
          </a:ln>
        </p:spPr>
      </p:sp>
      <p:sp>
        <p:nvSpPr>
          <p:cNvPr id="16" name="Shape 11"/>
          <p:cNvSpPr/>
          <p:nvPr/>
        </p:nvSpPr>
        <p:spPr>
          <a:xfrm>
            <a:off x="640080" y="5550408"/>
            <a:ext cx="420624" cy="420624"/>
          </a:xfrm>
          <a:prstGeom prst="ellipse">
            <a:avLst/>
          </a:prstGeom>
          <a:solidFill>
            <a:srgbClr val="16A34A"/>
          </a:solidFill>
          <a:ln/>
        </p:spPr>
      </p:sp>
      <p:sp>
        <p:nvSpPr>
          <p:cNvPr id="17" name="Text 12"/>
          <p:cNvSpPr/>
          <p:nvPr/>
        </p:nvSpPr>
        <p:spPr>
          <a:xfrm>
            <a:off x="640080" y="5550408"/>
            <a:ext cx="420624" cy="420624"/>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A</a:t>
            </a:r>
            <a:endParaRPr lang="en-US" sz="1500" dirty="0"/>
          </a:p>
        </p:txBody>
      </p:sp>
      <p:sp>
        <p:nvSpPr>
          <p:cNvPr id="18" name="Text 13"/>
          <p:cNvSpPr/>
          <p:nvPr/>
        </p:nvSpPr>
        <p:spPr>
          <a:xfrm>
            <a:off x="1170432" y="5440680"/>
            <a:ext cx="1874520" cy="640080"/>
          </a:xfrm>
          <a:prstGeom prst="rect">
            <a:avLst/>
          </a:prstGeom>
          <a:noFill/>
          <a:ln/>
        </p:spPr>
        <p:txBody>
          <a:bodyPr wrap="square" rtlCol="0" anchor="ctr"/>
          <a:lstStyle/>
          <a:p>
            <a:pPr indent="0" marL="0">
              <a:buNone/>
            </a:pPr>
            <a:r>
              <a:rPr lang="en-US" sz="1200" b="1" dirty="0">
                <a:solidFill>
                  <a:srgbClr val="1A2233"/>
                </a:solidFill>
                <a:latin typeface="Trebuchet MS" pitchFamily="34" charset="0"/>
                <a:ea typeface="Trebuchet MS" pitchFamily="34" charset="-122"/>
                <a:cs typeface="Trebuchet MS" pitchFamily="34" charset="-120"/>
              </a:rPr>
              <a:t>Frontend accessible</a:t>
            </a:r>
            <a:endParaRPr lang="en-US" sz="1200" dirty="0"/>
          </a:p>
        </p:txBody>
      </p:sp>
      <p:sp>
        <p:nvSpPr>
          <p:cNvPr id="19" name="Shape 14"/>
          <p:cNvSpPr/>
          <p:nvPr/>
        </p:nvSpPr>
        <p:spPr>
          <a:xfrm>
            <a:off x="3282696" y="5303520"/>
            <a:ext cx="2706624" cy="914400"/>
          </a:xfrm>
          <a:prstGeom prst="rect">
            <a:avLst/>
          </a:prstGeom>
          <a:solidFill>
            <a:srgbClr val="ECFDF5"/>
          </a:solidFill>
          <a:ln w="12700">
            <a:solidFill>
              <a:srgbClr val="86EFAC"/>
            </a:solidFill>
            <a:prstDash val="solid"/>
          </a:ln>
        </p:spPr>
      </p:sp>
      <p:sp>
        <p:nvSpPr>
          <p:cNvPr id="20" name="Shape 15"/>
          <p:cNvSpPr/>
          <p:nvPr/>
        </p:nvSpPr>
        <p:spPr>
          <a:xfrm>
            <a:off x="3465576" y="5550408"/>
            <a:ext cx="420624" cy="420624"/>
          </a:xfrm>
          <a:prstGeom prst="ellipse">
            <a:avLst/>
          </a:prstGeom>
          <a:solidFill>
            <a:srgbClr val="16A34A"/>
          </a:solidFill>
          <a:ln/>
        </p:spPr>
      </p:sp>
      <p:sp>
        <p:nvSpPr>
          <p:cNvPr id="21" name="Text 16"/>
          <p:cNvSpPr/>
          <p:nvPr/>
        </p:nvSpPr>
        <p:spPr>
          <a:xfrm>
            <a:off x="3465576" y="5550408"/>
            <a:ext cx="420624" cy="420624"/>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B</a:t>
            </a:r>
            <a:endParaRPr lang="en-US" sz="1500" dirty="0"/>
          </a:p>
        </p:txBody>
      </p:sp>
      <p:sp>
        <p:nvSpPr>
          <p:cNvPr id="22" name="Text 17"/>
          <p:cNvSpPr/>
          <p:nvPr/>
        </p:nvSpPr>
        <p:spPr>
          <a:xfrm>
            <a:off x="3995928" y="5440680"/>
            <a:ext cx="1874520" cy="640080"/>
          </a:xfrm>
          <a:prstGeom prst="rect">
            <a:avLst/>
          </a:prstGeom>
          <a:noFill/>
          <a:ln/>
        </p:spPr>
        <p:txBody>
          <a:bodyPr wrap="square" rtlCol="0" anchor="ctr"/>
          <a:lstStyle/>
          <a:p>
            <a:pPr indent="0" marL="0">
              <a:buNone/>
            </a:pPr>
            <a:r>
              <a:rPr lang="en-US" sz="1200" b="1" dirty="0">
                <a:solidFill>
                  <a:srgbClr val="1A2233"/>
                </a:solidFill>
                <a:latin typeface="Trebuchet MS" pitchFamily="34" charset="0"/>
                <a:ea typeface="Trebuchet MS" pitchFamily="34" charset="-122"/>
                <a:cs typeface="Trebuchet MS" pitchFamily="34" charset="-120"/>
              </a:rPr>
              <a:t>Front &lt;-&gt; Back</a:t>
            </a:r>
            <a:endParaRPr lang="en-US" sz="1200" dirty="0"/>
          </a:p>
        </p:txBody>
      </p:sp>
      <p:sp>
        <p:nvSpPr>
          <p:cNvPr id="23" name="Shape 18"/>
          <p:cNvSpPr/>
          <p:nvPr/>
        </p:nvSpPr>
        <p:spPr>
          <a:xfrm>
            <a:off x="6108192" y="5303520"/>
            <a:ext cx="2706624" cy="914400"/>
          </a:xfrm>
          <a:prstGeom prst="rect">
            <a:avLst/>
          </a:prstGeom>
          <a:solidFill>
            <a:srgbClr val="ECFDF5"/>
          </a:solidFill>
          <a:ln w="12700">
            <a:solidFill>
              <a:srgbClr val="86EFAC"/>
            </a:solidFill>
            <a:prstDash val="solid"/>
          </a:ln>
        </p:spPr>
      </p:sp>
      <p:sp>
        <p:nvSpPr>
          <p:cNvPr id="24" name="Shape 19"/>
          <p:cNvSpPr/>
          <p:nvPr/>
        </p:nvSpPr>
        <p:spPr>
          <a:xfrm>
            <a:off x="6291072" y="5550408"/>
            <a:ext cx="420624" cy="420624"/>
          </a:xfrm>
          <a:prstGeom prst="ellipse">
            <a:avLst/>
          </a:prstGeom>
          <a:solidFill>
            <a:srgbClr val="16A34A"/>
          </a:solidFill>
          <a:ln/>
        </p:spPr>
      </p:sp>
      <p:sp>
        <p:nvSpPr>
          <p:cNvPr id="25" name="Text 20"/>
          <p:cNvSpPr/>
          <p:nvPr/>
        </p:nvSpPr>
        <p:spPr>
          <a:xfrm>
            <a:off x="6291072" y="5550408"/>
            <a:ext cx="420624" cy="420624"/>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C</a:t>
            </a:r>
            <a:endParaRPr lang="en-US" sz="1500" dirty="0"/>
          </a:p>
        </p:txBody>
      </p:sp>
      <p:sp>
        <p:nvSpPr>
          <p:cNvPr id="26" name="Text 21"/>
          <p:cNvSpPr/>
          <p:nvPr/>
        </p:nvSpPr>
        <p:spPr>
          <a:xfrm>
            <a:off x="6821424" y="5440680"/>
            <a:ext cx="1874520" cy="640080"/>
          </a:xfrm>
          <a:prstGeom prst="rect">
            <a:avLst/>
          </a:prstGeom>
          <a:noFill/>
          <a:ln/>
        </p:spPr>
        <p:txBody>
          <a:bodyPr wrap="square" rtlCol="0" anchor="ctr"/>
          <a:lstStyle/>
          <a:p>
            <a:pPr indent="0" marL="0">
              <a:buNone/>
            </a:pPr>
            <a:r>
              <a:rPr lang="en-US" sz="1200" b="1" dirty="0">
                <a:solidFill>
                  <a:srgbClr val="1A2233"/>
                </a:solidFill>
                <a:latin typeface="Trebuchet MS" pitchFamily="34" charset="0"/>
                <a:ea typeface="Trebuchet MS" pitchFamily="34" charset="-122"/>
                <a:cs typeface="Trebuchet MS" pitchFamily="34" charset="-120"/>
              </a:rPr>
              <a:t>Back &lt;-&gt; MongoDB</a:t>
            </a:r>
            <a:endParaRPr lang="en-US" sz="1200" dirty="0"/>
          </a:p>
        </p:txBody>
      </p:sp>
      <p:sp>
        <p:nvSpPr>
          <p:cNvPr id="27" name="Shape 22"/>
          <p:cNvSpPr/>
          <p:nvPr/>
        </p:nvSpPr>
        <p:spPr>
          <a:xfrm>
            <a:off x="8933688" y="5303520"/>
            <a:ext cx="2706624" cy="914400"/>
          </a:xfrm>
          <a:prstGeom prst="rect">
            <a:avLst/>
          </a:prstGeom>
          <a:solidFill>
            <a:srgbClr val="ECFDF5"/>
          </a:solidFill>
          <a:ln w="12700">
            <a:solidFill>
              <a:srgbClr val="86EFAC"/>
            </a:solidFill>
            <a:prstDash val="solid"/>
          </a:ln>
        </p:spPr>
      </p:sp>
      <p:sp>
        <p:nvSpPr>
          <p:cNvPr id="28" name="Shape 23"/>
          <p:cNvSpPr/>
          <p:nvPr/>
        </p:nvSpPr>
        <p:spPr>
          <a:xfrm>
            <a:off x="9116568" y="5550408"/>
            <a:ext cx="420624" cy="420624"/>
          </a:xfrm>
          <a:prstGeom prst="ellipse">
            <a:avLst/>
          </a:prstGeom>
          <a:solidFill>
            <a:srgbClr val="16A34A"/>
          </a:solidFill>
          <a:ln/>
        </p:spPr>
      </p:sp>
      <p:sp>
        <p:nvSpPr>
          <p:cNvPr id="29" name="Text 24"/>
          <p:cNvSpPr/>
          <p:nvPr/>
        </p:nvSpPr>
        <p:spPr>
          <a:xfrm>
            <a:off x="9116568" y="5550408"/>
            <a:ext cx="420624" cy="420624"/>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D</a:t>
            </a:r>
            <a:endParaRPr lang="en-US" sz="1500" dirty="0"/>
          </a:p>
        </p:txBody>
      </p:sp>
      <p:sp>
        <p:nvSpPr>
          <p:cNvPr id="30" name="Text 25"/>
          <p:cNvSpPr/>
          <p:nvPr/>
        </p:nvSpPr>
        <p:spPr>
          <a:xfrm>
            <a:off x="9646920" y="5440680"/>
            <a:ext cx="1874520" cy="640080"/>
          </a:xfrm>
          <a:prstGeom prst="rect">
            <a:avLst/>
          </a:prstGeom>
          <a:noFill/>
          <a:ln/>
        </p:spPr>
        <p:txBody>
          <a:bodyPr wrap="square" rtlCol="0" anchor="ctr"/>
          <a:lstStyle/>
          <a:p>
            <a:pPr indent="0" marL="0">
              <a:buNone/>
            </a:pPr>
            <a:r>
              <a:rPr lang="en-US" sz="1200" b="1" dirty="0">
                <a:solidFill>
                  <a:srgbClr val="1A2233"/>
                </a:solidFill>
                <a:latin typeface="Trebuchet MS" pitchFamily="34" charset="0"/>
                <a:ea typeface="Trebuchet MS" pitchFamily="34" charset="-122"/>
                <a:cs typeface="Trebuchet MS" pitchFamily="34" charset="-120"/>
              </a:rPr>
              <a:t>Persistance OK</a:t>
            </a:r>
            <a:endParaRPr lang="en-US" sz="1200" dirty="0"/>
          </a:p>
        </p:txBody>
      </p:sp>
      <p:sp>
        <p:nvSpPr>
          <p:cNvPr id="31" name="Text 26"/>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32" name="Text 27"/>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POUR ALLER PLUS LOIN</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Bonus realises</a:t>
            </a:r>
            <a:endParaRPr lang="en-US" sz="2600" dirty="0"/>
          </a:p>
        </p:txBody>
      </p:sp>
      <p:sp>
        <p:nvSpPr>
          <p:cNvPr id="7" name="Shape 4"/>
          <p:cNvSpPr/>
          <p:nvPr/>
        </p:nvSpPr>
        <p:spPr>
          <a:xfrm>
            <a:off x="548640" y="1417320"/>
            <a:ext cx="11064240" cy="137160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Shape 5"/>
          <p:cNvSpPr/>
          <p:nvPr/>
        </p:nvSpPr>
        <p:spPr>
          <a:xfrm>
            <a:off x="548640" y="1417320"/>
            <a:ext cx="128016" cy="1371600"/>
          </a:xfrm>
          <a:prstGeom prst="rect">
            <a:avLst/>
          </a:prstGeom>
          <a:solidFill>
            <a:srgbClr val="326CE5"/>
          </a:solidFill>
          <a:ln/>
        </p:spPr>
      </p:sp>
      <p:sp>
        <p:nvSpPr>
          <p:cNvPr id="9" name="Text 6"/>
          <p:cNvSpPr/>
          <p:nvPr/>
        </p:nvSpPr>
        <p:spPr>
          <a:xfrm>
            <a:off x="914400" y="1600200"/>
            <a:ext cx="3657600" cy="1005840"/>
          </a:xfrm>
          <a:prstGeom prst="rect">
            <a:avLst/>
          </a:prstGeom>
          <a:noFill/>
          <a:ln/>
        </p:spPr>
        <p:txBody>
          <a:bodyPr wrap="square" rtlCol="0" anchor="ctr"/>
          <a:lstStyle/>
          <a:p>
            <a:pPr indent="0" marL="0">
              <a:buNone/>
            </a:pPr>
            <a:r>
              <a:rPr lang="en-US" sz="1900" b="1" dirty="0">
                <a:solidFill>
                  <a:srgbClr val="326CE5"/>
                </a:solidFill>
                <a:latin typeface="Trebuchet MS" pitchFamily="34" charset="0"/>
                <a:ea typeface="Trebuchet MS" pitchFamily="34" charset="-122"/>
                <a:cs typeface="Trebuchet MS" pitchFamily="34" charset="-120"/>
              </a:rPr>
              <a:t>Secrets</a:t>
            </a:r>
            <a:endParaRPr lang="en-US" sz="1900" dirty="0"/>
          </a:p>
        </p:txBody>
      </p:sp>
      <p:sp>
        <p:nvSpPr>
          <p:cNvPr id="10" name="Text 7"/>
          <p:cNvSpPr/>
          <p:nvPr/>
        </p:nvSpPr>
        <p:spPr>
          <a:xfrm>
            <a:off x="4572000" y="1600200"/>
            <a:ext cx="6858000" cy="1005840"/>
          </a:xfrm>
          <a:prstGeom prst="rect">
            <a:avLst/>
          </a:prstGeom>
          <a:noFill/>
          <a:ln/>
        </p:spPr>
        <p:txBody>
          <a:bodyPr wrap="square" rtlCol="0" anchor="ctr"/>
          <a:lstStyle/>
          <a:p>
            <a:pPr indent="0" marL="0">
              <a:buNone/>
            </a:pPr>
            <a:r>
              <a:rPr lang="en-US" sz="1400" dirty="0">
                <a:solidFill>
                  <a:srgbClr val="1A2233"/>
                </a:solidFill>
                <a:latin typeface="Calibri" pitchFamily="34" charset="0"/>
                <a:ea typeface="Calibri" pitchFamily="34" charset="-122"/>
                <a:cs typeface="Calibri" pitchFamily="34" charset="-120"/>
              </a:rPr>
              <a:t>Credentials MongoDB &amp; Grafana chiffres en base64, injectes via secretKeyRef.</a:t>
            </a:r>
            <a:endParaRPr lang="en-US" sz="1400" dirty="0"/>
          </a:p>
        </p:txBody>
      </p:sp>
      <p:sp>
        <p:nvSpPr>
          <p:cNvPr id="11" name="Shape 8"/>
          <p:cNvSpPr/>
          <p:nvPr/>
        </p:nvSpPr>
        <p:spPr>
          <a:xfrm>
            <a:off x="548640" y="2971800"/>
            <a:ext cx="11064240" cy="137160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2" name="Shape 9"/>
          <p:cNvSpPr/>
          <p:nvPr/>
        </p:nvSpPr>
        <p:spPr>
          <a:xfrm>
            <a:off x="548640" y="2971800"/>
            <a:ext cx="128016" cy="1371600"/>
          </a:xfrm>
          <a:prstGeom prst="rect">
            <a:avLst/>
          </a:prstGeom>
          <a:solidFill>
            <a:srgbClr val="00B4D8"/>
          </a:solidFill>
          <a:ln/>
        </p:spPr>
      </p:sp>
      <p:sp>
        <p:nvSpPr>
          <p:cNvPr id="13" name="Text 10"/>
          <p:cNvSpPr/>
          <p:nvPr/>
        </p:nvSpPr>
        <p:spPr>
          <a:xfrm>
            <a:off x="914400" y="3154680"/>
            <a:ext cx="3657600" cy="1005840"/>
          </a:xfrm>
          <a:prstGeom prst="rect">
            <a:avLst/>
          </a:prstGeom>
          <a:noFill/>
          <a:ln/>
        </p:spPr>
        <p:txBody>
          <a:bodyPr wrap="square" rtlCol="0" anchor="ctr"/>
          <a:lstStyle/>
          <a:p>
            <a:pPr indent="0" marL="0">
              <a:buNone/>
            </a:pPr>
            <a:r>
              <a:rPr lang="en-US" sz="1900" b="1" dirty="0">
                <a:solidFill>
                  <a:srgbClr val="00B4D8"/>
                </a:solidFill>
                <a:latin typeface="Trebuchet MS" pitchFamily="34" charset="0"/>
                <a:ea typeface="Trebuchet MS" pitchFamily="34" charset="-122"/>
                <a:cs typeface="Trebuchet MS" pitchFamily="34" charset="-120"/>
              </a:rPr>
              <a:t>Observabilite (Pod 3)</a:t>
            </a:r>
            <a:endParaRPr lang="en-US" sz="1900" dirty="0"/>
          </a:p>
        </p:txBody>
      </p:sp>
      <p:sp>
        <p:nvSpPr>
          <p:cNvPr id="14" name="Text 11"/>
          <p:cNvSpPr/>
          <p:nvPr/>
        </p:nvSpPr>
        <p:spPr>
          <a:xfrm>
            <a:off x="4572000" y="3154680"/>
            <a:ext cx="6858000" cy="1005840"/>
          </a:xfrm>
          <a:prstGeom prst="rect">
            <a:avLst/>
          </a:prstGeom>
          <a:noFill/>
          <a:ln/>
        </p:spPr>
        <p:txBody>
          <a:bodyPr wrap="square" rtlCol="0" anchor="ctr"/>
          <a:lstStyle/>
          <a:p>
            <a:pPr indent="0" marL="0">
              <a:buNone/>
            </a:pPr>
            <a:r>
              <a:rPr lang="en-US" sz="1400" dirty="0">
                <a:solidFill>
                  <a:srgbClr val="1A2233"/>
                </a:solidFill>
                <a:latin typeface="Calibri" pitchFamily="34" charset="0"/>
                <a:ea typeface="Calibri" pitchFamily="34" charset="-122"/>
                <a:cs typeface="Calibri" pitchFamily="34" charset="-120"/>
              </a:rPr>
              <a:t>Prometheus scrape le backend instrumente (prom-client) ; dashboard Grafana pre-provisionne.</a:t>
            </a:r>
            <a:endParaRPr lang="en-US" sz="1400" dirty="0"/>
          </a:p>
        </p:txBody>
      </p:sp>
      <p:sp>
        <p:nvSpPr>
          <p:cNvPr id="15" name="Shape 12"/>
          <p:cNvSpPr/>
          <p:nvPr/>
        </p:nvSpPr>
        <p:spPr>
          <a:xfrm>
            <a:off x="548640" y="4526280"/>
            <a:ext cx="11064240" cy="1371600"/>
          </a:xfrm>
          <a:prstGeom prst="rect">
            <a:avLst/>
          </a:prstGeom>
          <a:solidFill>
            <a:srgbClr val="FFFFFF"/>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16" name="Shape 13"/>
          <p:cNvSpPr/>
          <p:nvPr/>
        </p:nvSpPr>
        <p:spPr>
          <a:xfrm>
            <a:off x="548640" y="4526280"/>
            <a:ext cx="128016" cy="1371600"/>
          </a:xfrm>
          <a:prstGeom prst="rect">
            <a:avLst/>
          </a:prstGeom>
          <a:solidFill>
            <a:srgbClr val="12305C"/>
          </a:solidFill>
          <a:ln/>
        </p:spPr>
      </p:sp>
      <p:sp>
        <p:nvSpPr>
          <p:cNvPr id="17" name="Text 14"/>
          <p:cNvSpPr/>
          <p:nvPr/>
        </p:nvSpPr>
        <p:spPr>
          <a:xfrm>
            <a:off x="914400" y="4709160"/>
            <a:ext cx="3657600" cy="1005840"/>
          </a:xfrm>
          <a:prstGeom prst="rect">
            <a:avLst/>
          </a:prstGeom>
          <a:noFill/>
          <a:ln/>
        </p:spPr>
        <p:txBody>
          <a:bodyPr wrap="square" rtlCol="0" anchor="ctr"/>
          <a:lstStyle/>
          <a:p>
            <a:pPr indent="0" marL="0">
              <a:buNone/>
            </a:pPr>
            <a:r>
              <a:rPr lang="en-US" sz="1900" b="1" dirty="0">
                <a:solidFill>
                  <a:srgbClr val="12305C"/>
                </a:solidFill>
                <a:latin typeface="Trebuchet MS" pitchFamily="34" charset="0"/>
                <a:ea typeface="Trebuchet MS" pitchFamily="34" charset="-122"/>
                <a:cs typeface="Trebuchet MS" pitchFamily="34" charset="-120"/>
              </a:rPr>
              <a:t>Cluster multi-noeuds</a:t>
            </a:r>
            <a:endParaRPr lang="en-US" sz="1900" dirty="0"/>
          </a:p>
        </p:txBody>
      </p:sp>
      <p:sp>
        <p:nvSpPr>
          <p:cNvPr id="18" name="Text 15"/>
          <p:cNvSpPr/>
          <p:nvPr/>
        </p:nvSpPr>
        <p:spPr>
          <a:xfrm>
            <a:off x="4572000" y="4709160"/>
            <a:ext cx="6858000" cy="1005840"/>
          </a:xfrm>
          <a:prstGeom prst="rect">
            <a:avLst/>
          </a:prstGeom>
          <a:noFill/>
          <a:ln/>
        </p:spPr>
        <p:txBody>
          <a:bodyPr wrap="square" rtlCol="0" anchor="ctr"/>
          <a:lstStyle/>
          <a:p>
            <a:pPr indent="0" marL="0">
              <a:buNone/>
            </a:pPr>
            <a:r>
              <a:rPr lang="en-US" sz="1400" dirty="0">
                <a:solidFill>
                  <a:srgbClr val="1A2233"/>
                </a:solidFill>
                <a:latin typeface="Calibri" pitchFamily="34" charset="0"/>
                <a:ea typeface="Calibri" pitchFamily="34" charset="-122"/>
                <a:cs typeface="Calibri" pitchFamily="34" charset="-120"/>
              </a:rPr>
              <a:t>Config kind 1 control-plane + 2 workers disponible ; Pod 2 epingle au noeud tier=storage.</a:t>
            </a:r>
            <a:endParaRPr lang="en-US" sz="1400" dirty="0"/>
          </a:p>
        </p:txBody>
      </p:sp>
      <p:sp>
        <p:nvSpPr>
          <p:cNvPr id="19" name="Text 16"/>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20" name="Text 17"/>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326CE5"/>
          </a:solidFill>
          <a:ln/>
        </p:spPr>
      </p:sp>
      <p:sp>
        <p:nvSpPr>
          <p:cNvPr id="4" name="Text 2"/>
          <p:cNvSpPr/>
          <p:nvPr/>
        </p:nvSpPr>
        <p:spPr>
          <a:xfrm>
            <a:off x="548640" y="164592"/>
            <a:ext cx="10058400" cy="274320"/>
          </a:xfrm>
          <a:prstGeom prst="rect">
            <a:avLst/>
          </a:prstGeom>
          <a:noFill/>
          <a:ln/>
        </p:spPr>
        <p:txBody>
          <a:bodyPr wrap="square" rtlCol="0" anchor="ctr"/>
          <a:lstStyle/>
          <a:p>
            <a:pPr indent="0" marL="0">
              <a:buNone/>
            </a:pPr>
            <a:r>
              <a:rPr lang="en-US" sz="1200" b="1" spc="300" kern="0" dirty="0">
                <a:solidFill>
                  <a:srgbClr val="00B4D8"/>
                </a:solidFill>
                <a:latin typeface="Trebuchet MS" pitchFamily="34" charset="0"/>
                <a:ea typeface="Trebuchet MS" pitchFamily="34" charset="-122"/>
                <a:cs typeface="Trebuchet MS" pitchFamily="34" charset="-120"/>
              </a:rPr>
              <a:t>RETOUR D'EXPERIENCE</a:t>
            </a:r>
            <a:endParaRPr lang="en-US" sz="1200" dirty="0"/>
          </a:p>
        </p:txBody>
      </p:sp>
      <p:sp>
        <p:nvSpPr>
          <p:cNvPr id="5" name="Text 3"/>
          <p:cNvSpPr/>
          <p:nvPr/>
        </p:nvSpPr>
        <p:spPr>
          <a:xfrm>
            <a:off x="548640" y="402336"/>
            <a:ext cx="11064240" cy="566928"/>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Difficultes rencontrees &amp; solutions</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Probleme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Solution apportee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0B1F3A"/>
                    </a:solidFill>
                  </a:tcPr>
                </a:tc>
              </a:tr>
              <a:tr h="548640">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Backend connecte avant que MongoDB soit pret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Boucle de retry (30 x 2s) dans server.js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Nginx refuse de demarrer (host not found upstream)</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Resolution DNS paresseuse + resolver injecte au runtime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Volume RWO bloque le rolling update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strategy: Recreate sur le Deployment Pod 2</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CORS entre frontend et backend</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Reverse-proxy /api cote Nginx (meme origine)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Images locales absentes du cluster</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kind load docker-image + IfNotPresent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Docker Desktop crash (Inference manager / socket)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Desactivation Docker AI + wsl --shutdown (sockets liberes)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Cluster instable (RAM hote limitee)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Repli mono-noeud + liberation de RAM</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6455664"/>
            <a:ext cx="6400800" cy="274320"/>
          </a:xfrm>
          <a:prstGeom prst="rect">
            <a:avLst/>
          </a:prstGeom>
          <a:noFill/>
          <a:ln/>
        </p:spPr>
        <p:txBody>
          <a:bodyPr wrap="square" rtlCol="0" anchor="ctr"/>
          <a:lstStyle/>
          <a:p>
            <a:pPr indent="0" marL="0">
              <a:buNone/>
            </a:pPr>
            <a:r>
              <a:rPr lang="en-US" sz="900" dirty="0">
                <a:solidFill>
                  <a:srgbClr val="5B6B7F"/>
                </a:solidFill>
                <a:latin typeface="Calibri" pitchFamily="34" charset="0"/>
                <a:ea typeface="Calibri" pitchFamily="34" charset="-122"/>
                <a:cs typeface="Calibri" pitchFamily="34" charset="-120"/>
              </a:rPr>
              <a:t>K8s E-Commerce  |  Projet DevOps</a:t>
            </a:r>
            <a:endParaRPr lang="en-US" sz="900" dirty="0"/>
          </a:p>
        </p:txBody>
      </p:sp>
      <p:sp>
        <p:nvSpPr>
          <p:cNvPr id="9" name="Text 5"/>
          <p:cNvSpPr/>
          <p:nvPr/>
        </p:nvSpPr>
        <p:spPr>
          <a:xfrm>
            <a:off x="11430000" y="6455664"/>
            <a:ext cx="457200" cy="274320"/>
          </a:xfrm>
          <a:prstGeom prst="rect">
            <a:avLst/>
          </a:prstGeom>
          <a:noFill/>
          <a:ln/>
        </p:spPr>
        <p:txBody>
          <a:bodyPr wrap="square" rtlCol="0" anchor="ctr"/>
          <a:lstStyle/>
          <a:p>
            <a:pPr algn="r" indent="0" marL="0">
              <a:buNone/>
            </a:pPr>
            <a:r>
              <a:rPr lang="en-US" sz="900" dirty="0">
                <a:solidFill>
                  <a:srgbClr val="5B6B7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48640" y="640080"/>
            <a:ext cx="128016" cy="914400"/>
          </a:xfrm>
          <a:prstGeom prst="rect">
            <a:avLst/>
          </a:prstGeom>
          <a:solidFill>
            <a:srgbClr val="326CE5"/>
          </a:solidFill>
          <a:ln/>
        </p:spPr>
      </p:sp>
      <p:sp>
        <p:nvSpPr>
          <p:cNvPr id="3" name="Text 1"/>
          <p:cNvSpPr/>
          <p:nvPr/>
        </p:nvSpPr>
        <p:spPr>
          <a:xfrm>
            <a:off x="868680" y="640080"/>
            <a:ext cx="10058400" cy="91440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Conclusion</a:t>
            </a:r>
            <a:endParaRPr lang="en-US" sz="3400" dirty="0"/>
          </a:p>
        </p:txBody>
      </p:sp>
      <p:sp>
        <p:nvSpPr>
          <p:cNvPr id="4" name="Shape 2"/>
          <p:cNvSpPr/>
          <p:nvPr/>
        </p:nvSpPr>
        <p:spPr>
          <a:xfrm>
            <a:off x="548640" y="1783080"/>
            <a:ext cx="5486400" cy="2743200"/>
          </a:xfrm>
          <a:prstGeom prst="rect">
            <a:avLst/>
          </a:prstGeom>
          <a:solidFill>
            <a:srgbClr val="12305C"/>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5" name="Text 3"/>
          <p:cNvSpPr/>
          <p:nvPr/>
        </p:nvSpPr>
        <p:spPr>
          <a:xfrm>
            <a:off x="777240" y="1901952"/>
            <a:ext cx="5029200" cy="365760"/>
          </a:xfrm>
          <a:prstGeom prst="rect">
            <a:avLst/>
          </a:prstGeom>
          <a:noFill/>
          <a:ln/>
        </p:spPr>
        <p:txBody>
          <a:bodyPr wrap="square" rtlCol="0" anchor="ctr"/>
          <a:lstStyle/>
          <a:p>
            <a:pPr indent="0" marL="0">
              <a:buNone/>
            </a:pPr>
            <a:r>
              <a:rPr lang="en-US" sz="1600" b="1" dirty="0">
                <a:solidFill>
                  <a:srgbClr val="00B4D8"/>
                </a:solidFill>
                <a:latin typeface="Trebuchet MS" pitchFamily="34" charset="0"/>
                <a:ea typeface="Trebuchet MS" pitchFamily="34" charset="-122"/>
                <a:cs typeface="Trebuchet MS" pitchFamily="34" charset="-120"/>
              </a:rPr>
              <a:t>Ce que nous avons livre</a:t>
            </a:r>
            <a:endParaRPr lang="en-US" sz="1600" dirty="0"/>
          </a:p>
        </p:txBody>
      </p:sp>
      <p:sp>
        <p:nvSpPr>
          <p:cNvPr id="6" name="Text 4"/>
          <p:cNvSpPr/>
          <p:nvPr/>
        </p:nvSpPr>
        <p:spPr>
          <a:xfrm>
            <a:off x="868680" y="2331720"/>
            <a:ext cx="5029200" cy="2103120"/>
          </a:xfrm>
          <a:prstGeom prst="rect">
            <a:avLst/>
          </a:prstGeom>
          <a:noFill/>
          <a:ln/>
        </p:spPr>
        <p:txBody>
          <a:bodyPr wrap="square" rtlCol="0" anchor="ctr"/>
          <a:lstStyle/>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Application e-commerce 3-tiers conteneurisee</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Architecture imposee respectee (Pod 1 / Pod 2)</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Persistance PV/PVC validee apres redemarrage</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Secrets, Services, ConfigMaps, sondes</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Bonus : monitoring, multi-noeuds, secrets</a:t>
            </a:r>
            <a:endParaRPr lang="en-US" sz="1350" dirty="0"/>
          </a:p>
        </p:txBody>
      </p:sp>
      <p:sp>
        <p:nvSpPr>
          <p:cNvPr id="7" name="Shape 5"/>
          <p:cNvSpPr/>
          <p:nvPr/>
        </p:nvSpPr>
        <p:spPr>
          <a:xfrm>
            <a:off x="6172200" y="1783080"/>
            <a:ext cx="5440680" cy="2743200"/>
          </a:xfrm>
          <a:prstGeom prst="rect">
            <a:avLst/>
          </a:prstGeom>
          <a:solidFill>
            <a:srgbClr val="12305C"/>
          </a:solidFill>
          <a:ln w="12700">
            <a:solidFill>
              <a:srgbClr val="DDE3EC"/>
            </a:solidFill>
            <a:prstDash val="solid"/>
          </a:ln>
          <a:effectLst>
            <a:outerShdw sx="100000" sy="100000" kx="0" ky="0" algn="bl" rotWithShape="0" blurRad="101600" dist="38100" dir="8100000">
              <a:srgbClr val="000000">
                <a:alpha val="16000"/>
              </a:srgbClr>
            </a:outerShdw>
          </a:effectLst>
        </p:spPr>
      </p:sp>
      <p:sp>
        <p:nvSpPr>
          <p:cNvPr id="8" name="Text 6"/>
          <p:cNvSpPr/>
          <p:nvPr/>
        </p:nvSpPr>
        <p:spPr>
          <a:xfrm>
            <a:off x="6400800" y="1901952"/>
            <a:ext cx="5029200" cy="365760"/>
          </a:xfrm>
          <a:prstGeom prst="rect">
            <a:avLst/>
          </a:prstGeom>
          <a:noFill/>
          <a:ln/>
        </p:spPr>
        <p:txBody>
          <a:bodyPr wrap="square" rtlCol="0" anchor="ctr"/>
          <a:lstStyle/>
          <a:p>
            <a:pPr indent="0" marL="0">
              <a:buNone/>
            </a:pPr>
            <a:r>
              <a:rPr lang="en-US" sz="1600" b="1" dirty="0">
                <a:solidFill>
                  <a:srgbClr val="00B4D8"/>
                </a:solidFill>
                <a:latin typeface="Trebuchet MS" pitchFamily="34" charset="0"/>
                <a:ea typeface="Trebuchet MS" pitchFamily="34" charset="-122"/>
                <a:cs typeface="Trebuchet MS" pitchFamily="34" charset="-120"/>
              </a:rPr>
              <a:t>Pistes d'amelioration</a:t>
            </a:r>
            <a:endParaRPr lang="en-US" sz="1600" dirty="0"/>
          </a:p>
        </p:txBody>
      </p:sp>
      <p:sp>
        <p:nvSpPr>
          <p:cNvPr id="9" name="Text 7"/>
          <p:cNvSpPr/>
          <p:nvPr/>
        </p:nvSpPr>
        <p:spPr>
          <a:xfrm>
            <a:off x="6492240" y="2331720"/>
            <a:ext cx="5029200" cy="2103120"/>
          </a:xfrm>
          <a:prstGeom prst="rect">
            <a:avLst/>
          </a:prstGeom>
          <a:noFill/>
          <a:ln/>
        </p:spPr>
        <p:txBody>
          <a:bodyPr wrap="square" rtlCol="0" anchor="ctr"/>
          <a:lstStyle/>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Ingress Controller + TLS (HTTPS)</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Horizontal Pod Autoscaler (HPA)</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StatefulSet + replica set MongoDB</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Pipeline CI/CD (GitHub Actions)</a:t>
            </a:r>
            <a:endParaRPr lang="en-US" sz="1350" dirty="0"/>
          </a:p>
          <a:p>
            <a:pPr marL="342900" indent="-342900">
              <a:spcAft>
                <a:spcPts val="800"/>
              </a:spcAft>
              <a:buSzPct val="100000"/>
              <a:buChar char="•"/>
            </a:pPr>
            <a:r>
              <a:rPr lang="en-US" sz="1350" dirty="0">
                <a:solidFill>
                  <a:srgbClr val="FFFFFF"/>
                </a:solidFill>
                <a:latin typeface="Calibri" pitchFamily="34" charset="0"/>
                <a:ea typeface="Calibri" pitchFamily="34" charset="-122"/>
                <a:cs typeface="Calibri" pitchFamily="34" charset="-120"/>
              </a:rPr>
              <a:t>Packaging Helm + NetworkPolicy</a:t>
            </a:r>
            <a:endParaRPr lang="en-US" sz="1350" dirty="0"/>
          </a:p>
        </p:txBody>
      </p:sp>
      <p:sp>
        <p:nvSpPr>
          <p:cNvPr id="10" name="Shape 8"/>
          <p:cNvSpPr/>
          <p:nvPr/>
        </p:nvSpPr>
        <p:spPr>
          <a:xfrm>
            <a:off x="0" y="5349240"/>
            <a:ext cx="12188952" cy="1508760"/>
          </a:xfrm>
          <a:prstGeom prst="rect">
            <a:avLst/>
          </a:prstGeom>
          <a:solidFill>
            <a:srgbClr val="081427"/>
          </a:solidFill>
          <a:ln/>
        </p:spPr>
      </p:sp>
      <p:sp>
        <p:nvSpPr>
          <p:cNvPr id="11" name="Text 9"/>
          <p:cNvSpPr/>
          <p:nvPr/>
        </p:nvSpPr>
        <p:spPr>
          <a:xfrm>
            <a:off x="548640" y="5532120"/>
            <a:ext cx="8229600" cy="640080"/>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Merci de votre attention</a:t>
            </a:r>
            <a:endParaRPr lang="en-US" sz="2600" dirty="0"/>
          </a:p>
        </p:txBody>
      </p:sp>
      <p:sp>
        <p:nvSpPr>
          <p:cNvPr id="12" name="Text 10"/>
          <p:cNvSpPr/>
          <p:nvPr/>
        </p:nvSpPr>
        <p:spPr>
          <a:xfrm>
            <a:off x="548640" y="6172200"/>
            <a:ext cx="8229600" cy="365760"/>
          </a:xfrm>
          <a:prstGeom prst="rect">
            <a:avLst/>
          </a:prstGeom>
          <a:noFill/>
          <a:ln/>
        </p:spPr>
        <p:txBody>
          <a:bodyPr wrap="square" rtlCol="0" anchor="ctr"/>
          <a:lstStyle/>
          <a:p>
            <a:pPr indent="0" marL="0">
              <a:buNone/>
            </a:pPr>
            <a:r>
              <a:rPr lang="en-US" sz="1400" dirty="0">
                <a:solidFill>
                  <a:srgbClr val="00B4D8"/>
                </a:solidFill>
                <a:latin typeface="Calibri" pitchFamily="34" charset="0"/>
                <a:ea typeface="Calibri" pitchFamily="34" charset="-122"/>
                <a:cs typeface="Calibri" pitchFamily="34" charset="-120"/>
              </a:rPr>
              <a:t>Questions &amp; demonstration live</a:t>
            </a:r>
            <a:endParaRPr lang="en-US" sz="1400" dirty="0"/>
          </a:p>
        </p:txBody>
      </p:sp>
      <p:sp>
        <p:nvSpPr>
          <p:cNvPr id="13" name="Text 11"/>
          <p:cNvSpPr/>
          <p:nvPr/>
        </p:nvSpPr>
        <p:spPr>
          <a:xfrm>
            <a:off x="7315200" y="5852160"/>
            <a:ext cx="4297680" cy="457200"/>
          </a:xfrm>
          <a:prstGeom prst="rect">
            <a:avLst/>
          </a:prstGeom>
          <a:noFill/>
          <a:ln/>
        </p:spPr>
        <p:txBody>
          <a:bodyPr wrap="square" rtlCol="0" anchor="ctr"/>
          <a:lstStyle/>
          <a:p>
            <a:pPr algn="r" indent="0" marL="0">
              <a:buNone/>
            </a:pPr>
            <a:r>
              <a:rPr lang="en-US" sz="1200" dirty="0">
                <a:solidFill>
                  <a:srgbClr val="CADCFC"/>
                </a:solidFill>
                <a:latin typeface="Consolas" pitchFamily="34" charset="0"/>
                <a:ea typeface="Consolas" pitchFamily="34" charset="-122"/>
                <a:cs typeface="Consolas" pitchFamily="34" charset="-120"/>
              </a:rPr>
              <a:t>github.com/Abder541/k8s-ecommerce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Deploiement d'une application E-Commerce sur Kubernetes</dc:title>
  <dc:subject>PptxGenJS Presentation</dc:subject>
  <dc:creator>Equipe K8s E-Commerce</dc:creator>
  <cp:lastModifiedBy>Equipe K8s E-Commerce</cp:lastModifiedBy>
  <cp:revision>1</cp:revision>
  <dcterms:created xsi:type="dcterms:W3CDTF">2026-06-08T07:33:00Z</dcterms:created>
  <dcterms:modified xsi:type="dcterms:W3CDTF">2026-06-08T07:33:00Z</dcterms:modified>
</cp:coreProperties>
</file>